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Montserrat" panose="00000500000000000000" pitchFamily="2" charset="0"/>
      <p:regular r:id="rId11"/>
      <p:bold r:id="rId12"/>
      <p:italic r:id="rId13"/>
      <p:boldItalic r:id="rId14"/>
    </p:embeddedFont>
    <p:embeddedFont>
      <p:font typeface="Montserrat Bold" panose="00000800000000000000" charset="0"/>
      <p:regular r:id="rId15"/>
    </p:embeddedFont>
    <p:embeddedFont>
      <p:font typeface="Montserrat Classic" panose="020B0604020202020204" charset="0"/>
      <p:regular r:id="rId16"/>
    </p:embeddedFont>
    <p:embeddedFont>
      <p:font typeface="Montserrat Classic Bold" panose="020B0604020202020204" charset="0"/>
      <p:regular r:id="rId17"/>
    </p:embeddedFont>
    <p:embeddedFont>
      <p:font typeface="Open Sauce" panose="020B0604020202020204" charset="0"/>
      <p:regular r:id="rId18"/>
    </p:embeddedFont>
    <p:embeddedFont>
      <p:font typeface="Tawasul" panose="020B0604020202020204" charset="-78"/>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730C11-F2FE-46A1-A6C9-7D1E0021CDDF}" v="1" dt="2025-05-04T20:28:39.1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946"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lima Aldoseri" userId="d05969a01269a430" providerId="LiveId" clId="{34730C11-F2FE-46A1-A6C9-7D1E0021CDDF}"/>
    <pc:docChg chg="custSel modSld">
      <pc:chgData name="Halima Aldoseri" userId="d05969a01269a430" providerId="LiveId" clId="{34730C11-F2FE-46A1-A6C9-7D1E0021CDDF}" dt="2025-05-04T20:29:01.148" v="2" actId="20577"/>
      <pc:docMkLst>
        <pc:docMk/>
      </pc:docMkLst>
      <pc:sldChg chg="modSp mod">
        <pc:chgData name="Halima Aldoseri" userId="d05969a01269a430" providerId="LiveId" clId="{34730C11-F2FE-46A1-A6C9-7D1E0021CDDF}" dt="2025-05-04T20:29:01.148" v="2" actId="20577"/>
        <pc:sldMkLst>
          <pc:docMk/>
          <pc:sldMk cId="0" sldId="256"/>
        </pc:sldMkLst>
        <pc:spChg chg="mod">
          <ac:chgData name="Halima Aldoseri" userId="d05969a01269a430" providerId="LiveId" clId="{34730C11-F2FE-46A1-A6C9-7D1E0021CDDF}" dt="2025-05-04T20:29:01.148" v="2" actId="20577"/>
          <ac:spMkLst>
            <pc:docMk/>
            <pc:sldMk cId="0" sldId="256"/>
            <ac:spMk id="5" creationId="{00000000-0000-0000-0000-000000000000}"/>
          </ac:spMkLst>
        </pc:spChg>
      </pc:sldChg>
      <pc:sldChg chg="addSp delSp modSp mod">
        <pc:chgData name="Halima Aldoseri" userId="d05969a01269a430" providerId="LiveId" clId="{34730C11-F2FE-46A1-A6C9-7D1E0021CDDF}" dt="2025-05-04T20:28:39.181" v="1"/>
        <pc:sldMkLst>
          <pc:docMk/>
          <pc:sldMk cId="0" sldId="262"/>
        </pc:sldMkLst>
        <pc:graphicFrameChg chg="del">
          <ac:chgData name="Halima Aldoseri" userId="d05969a01269a430" providerId="LiveId" clId="{34730C11-F2FE-46A1-A6C9-7D1E0021CDDF}" dt="2025-05-04T20:28:37.615" v="0" actId="478"/>
          <ac:graphicFrameMkLst>
            <pc:docMk/>
            <pc:sldMk cId="0" sldId="262"/>
            <ac:graphicFrameMk id="2" creationId="{00000000-0000-0000-0000-000000000000}"/>
          </ac:graphicFrameMkLst>
        </pc:graphicFrameChg>
        <pc:graphicFrameChg chg="add mod">
          <ac:chgData name="Halima Aldoseri" userId="d05969a01269a430" providerId="LiveId" clId="{34730C11-F2FE-46A1-A6C9-7D1E0021CDDF}" dt="2025-05-04T20:28:39.181" v="1"/>
          <ac:graphicFrameMkLst>
            <pc:docMk/>
            <pc:sldMk cId="0" sldId="262"/>
            <ac:graphicFrameMk id="4" creationId="{2FA37AD8-8541-CDA2-5B07-B8C99E1B3302}"/>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33219" y="-290104"/>
            <a:ext cx="5687064" cy="10867208"/>
            <a:chOff x="0" y="0"/>
            <a:chExt cx="1378714" cy="2634535"/>
          </a:xfrm>
        </p:grpSpPr>
        <p:sp>
          <p:nvSpPr>
            <p:cNvPr id="3" name="Freeform 3"/>
            <p:cNvSpPr/>
            <p:nvPr/>
          </p:nvSpPr>
          <p:spPr>
            <a:xfrm>
              <a:off x="0" y="0"/>
              <a:ext cx="1378714" cy="2634535"/>
            </a:xfrm>
            <a:custGeom>
              <a:avLst/>
              <a:gdLst/>
              <a:ahLst/>
              <a:cxnLst/>
              <a:rect l="l" t="t" r="r" b="b"/>
              <a:pathLst>
                <a:path w="1378714" h="2634535">
                  <a:moveTo>
                    <a:pt x="58537" y="0"/>
                  </a:moveTo>
                  <a:lnTo>
                    <a:pt x="1320177" y="0"/>
                  </a:lnTo>
                  <a:cubicBezTo>
                    <a:pt x="1335702" y="0"/>
                    <a:pt x="1350591" y="6167"/>
                    <a:pt x="1361569" y="17145"/>
                  </a:cubicBezTo>
                  <a:cubicBezTo>
                    <a:pt x="1372546" y="28123"/>
                    <a:pt x="1378714" y="43012"/>
                    <a:pt x="1378714" y="58537"/>
                  </a:cubicBezTo>
                  <a:lnTo>
                    <a:pt x="1378714" y="2575998"/>
                  </a:lnTo>
                  <a:cubicBezTo>
                    <a:pt x="1378714" y="2591523"/>
                    <a:pt x="1372546" y="2606412"/>
                    <a:pt x="1361569" y="2617390"/>
                  </a:cubicBezTo>
                  <a:cubicBezTo>
                    <a:pt x="1350591" y="2628367"/>
                    <a:pt x="1335702" y="2634535"/>
                    <a:pt x="1320177" y="2634535"/>
                  </a:cubicBezTo>
                  <a:lnTo>
                    <a:pt x="58537" y="2634535"/>
                  </a:lnTo>
                  <a:cubicBezTo>
                    <a:pt x="43012" y="2634535"/>
                    <a:pt x="28123" y="2628367"/>
                    <a:pt x="17145" y="2617390"/>
                  </a:cubicBezTo>
                  <a:cubicBezTo>
                    <a:pt x="6167" y="2606412"/>
                    <a:pt x="0" y="2591523"/>
                    <a:pt x="0" y="2575998"/>
                  </a:cubicBezTo>
                  <a:lnTo>
                    <a:pt x="0" y="58537"/>
                  </a:lnTo>
                  <a:cubicBezTo>
                    <a:pt x="0" y="43012"/>
                    <a:pt x="6167" y="28123"/>
                    <a:pt x="17145" y="17145"/>
                  </a:cubicBezTo>
                  <a:cubicBezTo>
                    <a:pt x="28123" y="6167"/>
                    <a:pt x="43012" y="0"/>
                    <a:pt x="58537" y="0"/>
                  </a:cubicBezTo>
                  <a:close/>
                </a:path>
              </a:pathLst>
            </a:custGeom>
            <a:solidFill>
              <a:srgbClr val="023B88">
                <a:alpha val="27843"/>
              </a:srgbClr>
            </a:solidFill>
            <a:ln cap="rnd">
              <a:noFill/>
              <a:prstDash val="solid"/>
              <a:round/>
            </a:ln>
          </p:spPr>
          <p:txBody>
            <a:bodyPr/>
            <a:lstStyle/>
            <a:p>
              <a:endParaRPr lang="en-US"/>
            </a:p>
          </p:txBody>
        </p:sp>
        <p:sp>
          <p:nvSpPr>
            <p:cNvPr id="4" name="TextBox 4"/>
            <p:cNvSpPr txBox="1"/>
            <p:nvPr/>
          </p:nvSpPr>
          <p:spPr>
            <a:xfrm>
              <a:off x="0" y="-19050"/>
              <a:ext cx="1378714" cy="2653585"/>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5" name="TextBox 5"/>
          <p:cNvSpPr txBox="1"/>
          <p:nvPr/>
        </p:nvSpPr>
        <p:spPr>
          <a:xfrm>
            <a:off x="6592192" y="6939279"/>
            <a:ext cx="10667108" cy="3419590"/>
          </a:xfrm>
          <a:prstGeom prst="rect">
            <a:avLst/>
          </a:prstGeom>
        </p:spPr>
        <p:txBody>
          <a:bodyPr lIns="0" tIns="0" rIns="0" bIns="0" rtlCol="0" anchor="t">
            <a:spAutoFit/>
          </a:bodyPr>
          <a:lstStyle/>
          <a:p>
            <a:pPr algn="ctr">
              <a:lnSpc>
                <a:spcPts val="4479"/>
              </a:lnSpc>
              <a:spcBef>
                <a:spcPct val="0"/>
              </a:spcBef>
            </a:pPr>
            <a:r>
              <a:rPr lang="en-US" sz="3199" spc="-63">
                <a:solidFill>
                  <a:srgbClr val="023B88"/>
                </a:solidFill>
                <a:latin typeface="Montserrat"/>
                <a:ea typeface="Montserrat"/>
                <a:cs typeface="Montserrat"/>
                <a:sym typeface="Montserrat"/>
              </a:rPr>
              <a:t>Done by : </a:t>
            </a:r>
          </a:p>
          <a:p>
            <a:pPr algn="ctr">
              <a:lnSpc>
                <a:spcPts val="4479"/>
              </a:lnSpc>
              <a:spcBef>
                <a:spcPct val="0"/>
              </a:spcBef>
            </a:pPr>
            <a:r>
              <a:rPr lang="en-US" sz="3199" spc="-63" dirty="0">
                <a:solidFill>
                  <a:srgbClr val="023B88"/>
                </a:solidFill>
                <a:latin typeface="Montserrat"/>
                <a:ea typeface="Montserrat"/>
                <a:cs typeface="Montserrat"/>
                <a:sym typeface="Montserrat"/>
              </a:rPr>
              <a:t>Sultan Khalid </a:t>
            </a:r>
            <a:r>
              <a:rPr lang="en-US" sz="3199" spc="-63" dirty="0" err="1">
                <a:solidFill>
                  <a:srgbClr val="023B88"/>
                </a:solidFill>
                <a:latin typeface="Montserrat"/>
                <a:ea typeface="Montserrat"/>
                <a:cs typeface="Montserrat"/>
                <a:sym typeface="Montserrat"/>
              </a:rPr>
              <a:t>Aseeri</a:t>
            </a:r>
            <a:r>
              <a:rPr lang="en-US" sz="3199" spc="-63" dirty="0">
                <a:solidFill>
                  <a:srgbClr val="023B88"/>
                </a:solidFill>
                <a:latin typeface="Montserrat"/>
                <a:ea typeface="Montserrat"/>
                <a:cs typeface="Montserrat"/>
                <a:sym typeface="Montserrat"/>
              </a:rPr>
              <a:t> 20161851</a:t>
            </a:r>
          </a:p>
          <a:p>
            <a:pPr algn="ctr">
              <a:lnSpc>
                <a:spcPts val="4479"/>
              </a:lnSpc>
              <a:spcBef>
                <a:spcPct val="0"/>
              </a:spcBef>
            </a:pPr>
            <a:r>
              <a:rPr lang="en-US" sz="3199" spc="-63" dirty="0">
                <a:solidFill>
                  <a:srgbClr val="023B88"/>
                </a:solidFill>
                <a:latin typeface="Montserrat"/>
                <a:ea typeface="Montserrat"/>
                <a:cs typeface="Montserrat"/>
                <a:sym typeface="Montserrat"/>
              </a:rPr>
              <a:t>Abdulla </a:t>
            </a:r>
            <a:r>
              <a:rPr lang="en-US" sz="3199" spc="-63" dirty="0" err="1">
                <a:solidFill>
                  <a:srgbClr val="023B88"/>
                </a:solidFill>
                <a:latin typeface="Montserrat"/>
                <a:ea typeface="Montserrat"/>
                <a:cs typeface="Montserrat"/>
                <a:sym typeface="Montserrat"/>
              </a:rPr>
              <a:t>Theeb</a:t>
            </a:r>
            <a:r>
              <a:rPr lang="en-US" sz="3199" spc="-63" dirty="0">
                <a:solidFill>
                  <a:srgbClr val="023B88"/>
                </a:solidFill>
                <a:latin typeface="Montserrat"/>
                <a:ea typeface="Montserrat"/>
                <a:cs typeface="Montserrat"/>
                <a:sym typeface="Montserrat"/>
              </a:rPr>
              <a:t> Aldoseri 20191736</a:t>
            </a:r>
          </a:p>
          <a:p>
            <a:pPr algn="ctr">
              <a:lnSpc>
                <a:spcPts val="4479"/>
              </a:lnSpc>
              <a:spcBef>
                <a:spcPct val="0"/>
              </a:spcBef>
            </a:pPr>
            <a:r>
              <a:rPr lang="en-US" sz="3199" spc="-63" dirty="0">
                <a:solidFill>
                  <a:srgbClr val="023B88"/>
                </a:solidFill>
                <a:latin typeface="Montserrat"/>
                <a:ea typeface="Montserrat"/>
                <a:cs typeface="Montserrat"/>
                <a:sym typeface="Montserrat"/>
              </a:rPr>
              <a:t>Halima Khalid Aldoseri 202202954 </a:t>
            </a:r>
          </a:p>
          <a:p>
            <a:pPr algn="ctr">
              <a:lnSpc>
                <a:spcPts val="4479"/>
              </a:lnSpc>
              <a:spcBef>
                <a:spcPct val="0"/>
              </a:spcBef>
            </a:pPr>
            <a:r>
              <a:rPr lang="en-US" sz="3199" spc="-63" dirty="0">
                <a:solidFill>
                  <a:srgbClr val="023B88"/>
                </a:solidFill>
                <a:latin typeface="Montserrat"/>
                <a:ea typeface="Montserrat"/>
                <a:cs typeface="Montserrat"/>
                <a:sym typeface="Montserrat"/>
              </a:rPr>
              <a:t>Zainab Isa </a:t>
            </a:r>
            <a:r>
              <a:rPr lang="en-US" sz="3199" spc="-63" dirty="0" err="1">
                <a:solidFill>
                  <a:srgbClr val="023B88"/>
                </a:solidFill>
                <a:latin typeface="Montserrat"/>
                <a:ea typeface="Montserrat"/>
                <a:cs typeface="Montserrat"/>
                <a:sym typeface="Montserrat"/>
              </a:rPr>
              <a:t>Alzayani</a:t>
            </a:r>
            <a:r>
              <a:rPr lang="en-US" sz="3199" spc="-63" dirty="0">
                <a:solidFill>
                  <a:srgbClr val="023B88"/>
                </a:solidFill>
                <a:latin typeface="Montserrat"/>
                <a:ea typeface="Montserrat"/>
                <a:cs typeface="Montserrat"/>
                <a:sym typeface="Montserrat"/>
              </a:rPr>
              <a:t> 202203207</a:t>
            </a:r>
          </a:p>
          <a:p>
            <a:pPr algn="ctr">
              <a:lnSpc>
                <a:spcPts val="4479"/>
              </a:lnSpc>
              <a:spcBef>
                <a:spcPct val="0"/>
              </a:spcBef>
            </a:pPr>
            <a:endParaRPr lang="en-US" sz="3199" spc="-63" dirty="0">
              <a:solidFill>
                <a:srgbClr val="023B88"/>
              </a:solidFill>
              <a:latin typeface="Montserrat"/>
              <a:ea typeface="Montserrat"/>
              <a:cs typeface="Montserrat"/>
              <a:sym typeface="Montserrat"/>
            </a:endParaRPr>
          </a:p>
        </p:txBody>
      </p:sp>
      <p:pic>
        <p:nvPicPr>
          <p:cNvPr id="6" name="Picture 6"/>
          <p:cNvPicPr>
            <a:picLocks noChangeAspect="1"/>
          </p:cNvPicPr>
          <p:nvPr/>
        </p:nvPicPr>
        <p:blipFill>
          <a:blip r:embed="rId2"/>
          <a:stretch>
            <a:fillRect/>
          </a:stretch>
        </p:blipFill>
        <p:spPr>
          <a:xfrm>
            <a:off x="8213645" y="951561"/>
            <a:ext cx="9837647" cy="2738899"/>
          </a:xfrm>
          <a:prstGeom prst="rect">
            <a:avLst/>
          </a:prstGeom>
        </p:spPr>
      </p:pic>
      <p:sp>
        <p:nvSpPr>
          <p:cNvPr id="7" name="TextBox 7"/>
          <p:cNvSpPr txBox="1"/>
          <p:nvPr/>
        </p:nvSpPr>
        <p:spPr>
          <a:xfrm>
            <a:off x="8973962" y="3006102"/>
            <a:ext cx="8285338" cy="822150"/>
          </a:xfrm>
          <a:prstGeom prst="rect">
            <a:avLst/>
          </a:prstGeom>
        </p:spPr>
        <p:txBody>
          <a:bodyPr lIns="0" tIns="0" rIns="0" bIns="0" rtlCol="0" anchor="t">
            <a:spAutoFit/>
          </a:bodyPr>
          <a:lstStyle/>
          <a:p>
            <a:pPr algn="ctr" rtl="1">
              <a:lnSpc>
                <a:spcPts val="6945"/>
              </a:lnSpc>
            </a:pPr>
            <a:r>
              <a:rPr lang="ar-EG" sz="4960">
                <a:solidFill>
                  <a:srgbClr val="023B88"/>
                </a:solidFill>
                <a:latin typeface="Tawasul"/>
                <a:ea typeface="Tawasul"/>
                <a:cs typeface="Tawasul"/>
                <a:sym typeface="Tawasul"/>
                <a:rtl/>
              </a:rPr>
              <a:t>شركة الخليج المتكاملة للمقاولات</a:t>
            </a:r>
          </a:p>
        </p:txBody>
      </p:sp>
      <p:pic>
        <p:nvPicPr>
          <p:cNvPr id="8" name="Picture 8"/>
          <p:cNvPicPr>
            <a:picLocks noChangeAspect="1"/>
          </p:cNvPicPr>
          <p:nvPr/>
        </p:nvPicPr>
        <p:blipFill>
          <a:blip r:embed="rId3"/>
          <a:stretch>
            <a:fillRect/>
          </a:stretch>
        </p:blipFill>
        <p:spPr>
          <a:xfrm>
            <a:off x="5781730" y="1343432"/>
            <a:ext cx="3226756" cy="275371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BFB"/>
        </a:solidFill>
        <a:effectLst/>
      </p:bgPr>
    </p:bg>
    <p:spTree>
      <p:nvGrpSpPr>
        <p:cNvPr id="1" name=""/>
        <p:cNvGrpSpPr/>
        <p:nvPr/>
      </p:nvGrpSpPr>
      <p:grpSpPr>
        <a:xfrm>
          <a:off x="0" y="0"/>
          <a:ext cx="0" cy="0"/>
          <a:chOff x="0" y="0"/>
          <a:chExt cx="0" cy="0"/>
        </a:xfrm>
      </p:grpSpPr>
      <p:sp>
        <p:nvSpPr>
          <p:cNvPr id="2" name="Freeform 2"/>
          <p:cNvSpPr/>
          <p:nvPr/>
        </p:nvSpPr>
        <p:spPr>
          <a:xfrm rot="-10800000">
            <a:off x="2870441" y="8837624"/>
            <a:ext cx="12547118" cy="1168795"/>
          </a:xfrm>
          <a:custGeom>
            <a:avLst/>
            <a:gdLst/>
            <a:ahLst/>
            <a:cxnLst/>
            <a:rect l="l" t="t" r="r" b="b"/>
            <a:pathLst>
              <a:path w="12547118" h="1168795">
                <a:moveTo>
                  <a:pt x="0" y="0"/>
                </a:moveTo>
                <a:lnTo>
                  <a:pt x="12547118" y="0"/>
                </a:lnTo>
                <a:lnTo>
                  <a:pt x="12547118" y="1168796"/>
                </a:lnTo>
                <a:lnTo>
                  <a:pt x="0" y="1168796"/>
                </a:lnTo>
                <a:lnTo>
                  <a:pt x="0" y="0"/>
                </a:lnTo>
                <a:close/>
              </a:path>
            </a:pathLst>
          </a:custGeom>
          <a:blipFill>
            <a:blip r:embed="rId2">
              <a:alphaModFix amt="72000"/>
            </a:blip>
            <a:stretch>
              <a:fillRect b="-208633"/>
            </a:stretch>
          </a:blipFill>
        </p:spPr>
        <p:txBody>
          <a:bodyPr/>
          <a:lstStyle/>
          <a:p>
            <a:endParaRPr lang="en-US"/>
          </a:p>
        </p:txBody>
      </p:sp>
      <p:grpSp>
        <p:nvGrpSpPr>
          <p:cNvPr id="3" name="Group 3"/>
          <p:cNvGrpSpPr/>
          <p:nvPr/>
        </p:nvGrpSpPr>
        <p:grpSpPr>
          <a:xfrm>
            <a:off x="1357665" y="1871192"/>
            <a:ext cx="15572670" cy="6965428"/>
            <a:chOff x="0" y="0"/>
            <a:chExt cx="4101444" cy="1834516"/>
          </a:xfrm>
        </p:grpSpPr>
        <p:sp>
          <p:nvSpPr>
            <p:cNvPr id="4" name="Freeform 4"/>
            <p:cNvSpPr/>
            <p:nvPr/>
          </p:nvSpPr>
          <p:spPr>
            <a:xfrm>
              <a:off x="0" y="0"/>
              <a:ext cx="4101444" cy="1834516"/>
            </a:xfrm>
            <a:custGeom>
              <a:avLst/>
              <a:gdLst/>
              <a:ahLst/>
              <a:cxnLst/>
              <a:rect l="l" t="t" r="r" b="b"/>
              <a:pathLst>
                <a:path w="4101444" h="1834516">
                  <a:moveTo>
                    <a:pt x="12429" y="0"/>
                  </a:moveTo>
                  <a:lnTo>
                    <a:pt x="4089016" y="0"/>
                  </a:lnTo>
                  <a:cubicBezTo>
                    <a:pt x="4095880" y="0"/>
                    <a:pt x="4101444" y="5565"/>
                    <a:pt x="4101444" y="12429"/>
                  </a:cubicBezTo>
                  <a:lnTo>
                    <a:pt x="4101444" y="1822087"/>
                  </a:lnTo>
                  <a:cubicBezTo>
                    <a:pt x="4101444" y="1828951"/>
                    <a:pt x="4095880" y="1834516"/>
                    <a:pt x="4089016" y="1834516"/>
                  </a:cubicBezTo>
                  <a:lnTo>
                    <a:pt x="12429" y="1834516"/>
                  </a:lnTo>
                  <a:cubicBezTo>
                    <a:pt x="5565" y="1834516"/>
                    <a:pt x="0" y="1828951"/>
                    <a:pt x="0" y="1822087"/>
                  </a:cubicBezTo>
                  <a:lnTo>
                    <a:pt x="0" y="12429"/>
                  </a:lnTo>
                  <a:cubicBezTo>
                    <a:pt x="0" y="5565"/>
                    <a:pt x="5565" y="0"/>
                    <a:pt x="12429" y="0"/>
                  </a:cubicBezTo>
                  <a:close/>
                </a:path>
              </a:pathLst>
            </a:custGeom>
            <a:solidFill>
              <a:srgbClr val="023B88">
                <a:alpha val="47843"/>
              </a:srgbClr>
            </a:solidFill>
            <a:ln cap="rnd">
              <a:noFill/>
              <a:prstDash val="solid"/>
              <a:round/>
            </a:ln>
          </p:spPr>
          <p:txBody>
            <a:bodyPr/>
            <a:lstStyle/>
            <a:p>
              <a:endParaRPr lang="en-US"/>
            </a:p>
          </p:txBody>
        </p:sp>
        <p:sp>
          <p:nvSpPr>
            <p:cNvPr id="5" name="TextBox 5"/>
            <p:cNvSpPr txBox="1"/>
            <p:nvPr/>
          </p:nvSpPr>
          <p:spPr>
            <a:xfrm>
              <a:off x="0" y="-19050"/>
              <a:ext cx="4101444" cy="1853566"/>
            </a:xfrm>
            <a:prstGeom prst="rect">
              <a:avLst/>
            </a:prstGeom>
          </p:spPr>
          <p:txBody>
            <a:bodyPr lIns="50800" tIns="50800" rIns="50800" bIns="50800" rtlCol="0" anchor="ctr"/>
            <a:lstStyle/>
            <a:p>
              <a:pPr marL="0" lvl="0" indent="0" algn="ctr">
                <a:lnSpc>
                  <a:spcPts val="2859"/>
                </a:lnSpc>
                <a:spcBef>
                  <a:spcPct val="0"/>
                </a:spcBef>
              </a:pPr>
              <a:endParaRPr/>
            </a:p>
          </p:txBody>
        </p:sp>
      </p:grpSp>
      <p:sp>
        <p:nvSpPr>
          <p:cNvPr id="6" name="TextBox 6"/>
          <p:cNvSpPr txBox="1"/>
          <p:nvPr/>
        </p:nvSpPr>
        <p:spPr>
          <a:xfrm>
            <a:off x="1784447" y="3457189"/>
            <a:ext cx="14719105" cy="5705861"/>
          </a:xfrm>
          <a:prstGeom prst="rect">
            <a:avLst/>
          </a:prstGeom>
        </p:spPr>
        <p:txBody>
          <a:bodyPr lIns="0" tIns="0" rIns="0" bIns="0" rtlCol="0" anchor="t">
            <a:spAutoFit/>
          </a:bodyPr>
          <a:lstStyle/>
          <a:p>
            <a:pPr algn="ctr">
              <a:lnSpc>
                <a:spcPts val="5087"/>
              </a:lnSpc>
            </a:pPr>
            <a:r>
              <a:rPr lang="en-US" sz="3179">
                <a:solidFill>
                  <a:srgbClr val="FFFFFF"/>
                </a:solidFill>
                <a:latin typeface="Open Sauce"/>
                <a:ea typeface="Open Sauce"/>
                <a:cs typeface="Open Sauce"/>
                <a:sym typeface="Open Sauce"/>
              </a:rPr>
              <a:t>Gulf Integrated Contractors (GIC) was established to overcome the operational challenges faced by Gulf Consolidated Contractors (GCC), such as high costs, manual reporting, and communication delays—despite using SAP ERP. To modernize operations, GIC implemented Odoo ERP, a flexible and open-source platform. This case study outlines how Odoo replaced outdated systems, streamlined processes, and improved overall efficiency, showing its effectiveness in addressing real challenges in the construction industry.</a:t>
            </a:r>
          </a:p>
          <a:p>
            <a:pPr algn="ctr">
              <a:lnSpc>
                <a:spcPts val="5087"/>
              </a:lnSpc>
            </a:pPr>
            <a:endParaRPr lang="en-US" sz="3179">
              <a:solidFill>
                <a:srgbClr val="FFFFFF"/>
              </a:solidFill>
              <a:latin typeface="Open Sauce"/>
              <a:ea typeface="Open Sauce"/>
              <a:cs typeface="Open Sauce"/>
              <a:sym typeface="Open Sauce"/>
            </a:endParaRPr>
          </a:p>
        </p:txBody>
      </p:sp>
      <p:sp>
        <p:nvSpPr>
          <p:cNvPr id="7" name="TextBox 7"/>
          <p:cNvSpPr txBox="1"/>
          <p:nvPr/>
        </p:nvSpPr>
        <p:spPr>
          <a:xfrm>
            <a:off x="5679731" y="2193243"/>
            <a:ext cx="6928538" cy="1159646"/>
          </a:xfrm>
          <a:prstGeom prst="rect">
            <a:avLst/>
          </a:prstGeom>
        </p:spPr>
        <p:txBody>
          <a:bodyPr lIns="0" tIns="0" rIns="0" bIns="0" rtlCol="0" anchor="t">
            <a:spAutoFit/>
          </a:bodyPr>
          <a:lstStyle/>
          <a:p>
            <a:pPr marL="0" lvl="0" indent="0" algn="ctr">
              <a:lnSpc>
                <a:spcPts val="9582"/>
              </a:lnSpc>
              <a:spcBef>
                <a:spcPct val="0"/>
              </a:spcBef>
            </a:pPr>
            <a:r>
              <a:rPr lang="en-US" sz="6844" b="1" spc="-136">
                <a:solidFill>
                  <a:srgbClr val="FFFFFF"/>
                </a:solidFill>
                <a:latin typeface="Montserrat Bold"/>
                <a:ea typeface="Montserrat Bold"/>
                <a:cs typeface="Montserrat Bold"/>
                <a:sym typeface="Montserrat Bold"/>
              </a:rPr>
              <a:t>Introduction</a:t>
            </a:r>
          </a:p>
        </p:txBody>
      </p:sp>
      <p:grpSp>
        <p:nvGrpSpPr>
          <p:cNvPr id="8" name="Group 8"/>
          <p:cNvGrpSpPr/>
          <p:nvPr/>
        </p:nvGrpSpPr>
        <p:grpSpPr>
          <a:xfrm>
            <a:off x="16113923" y="9258300"/>
            <a:ext cx="327444" cy="32744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txBody>
            <a:bodyPr/>
            <a:lstStyle/>
            <a:p>
              <a:endParaRPr lang="en-US"/>
            </a:p>
          </p:txBody>
        </p:sp>
        <p:sp>
          <p:nvSpPr>
            <p:cNvPr id="10" name="TextBox 10"/>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11" name="Group 11"/>
          <p:cNvGrpSpPr/>
          <p:nvPr/>
        </p:nvGrpSpPr>
        <p:grpSpPr>
          <a:xfrm>
            <a:off x="15648108" y="9258300"/>
            <a:ext cx="327444" cy="32744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txBody>
            <a:bodyPr/>
            <a:lstStyle/>
            <a:p>
              <a:endParaRPr lang="en-US"/>
            </a:p>
          </p:txBody>
        </p:sp>
        <p:sp>
          <p:nvSpPr>
            <p:cNvPr id="13" name="TextBox 13"/>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grpSp>
        <p:nvGrpSpPr>
          <p:cNvPr id="14" name="Group 14"/>
          <p:cNvGrpSpPr/>
          <p:nvPr/>
        </p:nvGrpSpPr>
        <p:grpSpPr>
          <a:xfrm>
            <a:off x="15161723" y="9258300"/>
            <a:ext cx="327444" cy="327444"/>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23D33"/>
            </a:solidFill>
            <a:ln cap="sq">
              <a:noFill/>
              <a:prstDash val="solid"/>
              <a:miter/>
            </a:ln>
          </p:spPr>
          <p:txBody>
            <a:bodyPr/>
            <a:lstStyle/>
            <a:p>
              <a:endParaRPr lang="en-US"/>
            </a:p>
          </p:txBody>
        </p:sp>
        <p:sp>
          <p:nvSpPr>
            <p:cNvPr id="16" name="TextBox 16"/>
            <p:cNvSpPr txBox="1"/>
            <p:nvPr/>
          </p:nvSpPr>
          <p:spPr>
            <a:xfrm>
              <a:off x="76200" y="57150"/>
              <a:ext cx="660400" cy="679450"/>
            </a:xfrm>
            <a:prstGeom prst="rect">
              <a:avLst/>
            </a:prstGeom>
          </p:spPr>
          <p:txBody>
            <a:bodyPr lIns="50800" tIns="50800" rIns="50800" bIns="50800" rtlCol="0" anchor="ctr"/>
            <a:lstStyle/>
            <a:p>
              <a:pPr marL="0" lvl="0" indent="0" algn="ctr">
                <a:lnSpc>
                  <a:spcPts val="2859"/>
                </a:lnSpc>
                <a:spcBef>
                  <a:spcPct val="0"/>
                </a:spcBef>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17123" y="1225149"/>
            <a:ext cx="8731669" cy="854267"/>
          </a:xfrm>
          <a:prstGeom prst="rect">
            <a:avLst/>
          </a:prstGeom>
        </p:spPr>
        <p:txBody>
          <a:bodyPr lIns="0" tIns="0" rIns="0" bIns="0" rtlCol="0" anchor="t">
            <a:spAutoFit/>
          </a:bodyPr>
          <a:lstStyle/>
          <a:p>
            <a:pPr marL="0" lvl="0" indent="0" algn="l">
              <a:lnSpc>
                <a:spcPts val="6989"/>
              </a:lnSpc>
              <a:spcBef>
                <a:spcPct val="0"/>
              </a:spcBef>
            </a:pPr>
            <a:r>
              <a:rPr lang="en-US" sz="4992" b="1" spc="-99">
                <a:solidFill>
                  <a:srgbClr val="023B88"/>
                </a:solidFill>
                <a:latin typeface="Montserrat Classic Bold"/>
                <a:ea typeface="Montserrat Classic Bold"/>
                <a:cs typeface="Montserrat Classic Bold"/>
                <a:sym typeface="Montserrat Classic Bold"/>
              </a:rPr>
              <a:t>Problem Statement</a:t>
            </a:r>
          </a:p>
        </p:txBody>
      </p:sp>
      <p:grpSp>
        <p:nvGrpSpPr>
          <p:cNvPr id="3" name="Group 3"/>
          <p:cNvGrpSpPr/>
          <p:nvPr/>
        </p:nvGrpSpPr>
        <p:grpSpPr>
          <a:xfrm>
            <a:off x="569513" y="3293285"/>
            <a:ext cx="7889155" cy="1371159"/>
            <a:chOff x="0" y="0"/>
            <a:chExt cx="1825753" cy="317321"/>
          </a:xfrm>
        </p:grpSpPr>
        <p:sp>
          <p:nvSpPr>
            <p:cNvPr id="4" name="Freeform 4"/>
            <p:cNvSpPr/>
            <p:nvPr/>
          </p:nvSpPr>
          <p:spPr>
            <a:xfrm>
              <a:off x="0" y="0"/>
              <a:ext cx="1825753" cy="317321"/>
            </a:xfrm>
            <a:custGeom>
              <a:avLst/>
              <a:gdLst/>
              <a:ahLst/>
              <a:cxnLst/>
              <a:rect l="l" t="t" r="r" b="b"/>
              <a:pathLst>
                <a:path w="1825753" h="317321">
                  <a:moveTo>
                    <a:pt x="31403" y="0"/>
                  </a:moveTo>
                  <a:lnTo>
                    <a:pt x="1794351" y="0"/>
                  </a:lnTo>
                  <a:cubicBezTo>
                    <a:pt x="1802679" y="0"/>
                    <a:pt x="1810667" y="3308"/>
                    <a:pt x="1816556" y="9198"/>
                  </a:cubicBezTo>
                  <a:cubicBezTo>
                    <a:pt x="1822445" y="15087"/>
                    <a:pt x="1825753" y="23074"/>
                    <a:pt x="1825753" y="31403"/>
                  </a:cubicBezTo>
                  <a:lnTo>
                    <a:pt x="1825753" y="285919"/>
                  </a:lnTo>
                  <a:cubicBezTo>
                    <a:pt x="1825753" y="294247"/>
                    <a:pt x="1822445" y="302235"/>
                    <a:pt x="1816556" y="308124"/>
                  </a:cubicBezTo>
                  <a:cubicBezTo>
                    <a:pt x="1810667" y="314013"/>
                    <a:pt x="1802679" y="317321"/>
                    <a:pt x="1794351" y="317321"/>
                  </a:cubicBezTo>
                  <a:lnTo>
                    <a:pt x="31403" y="317321"/>
                  </a:lnTo>
                  <a:cubicBezTo>
                    <a:pt x="23074" y="317321"/>
                    <a:pt x="15087" y="314013"/>
                    <a:pt x="9198" y="308124"/>
                  </a:cubicBezTo>
                  <a:cubicBezTo>
                    <a:pt x="3308" y="302235"/>
                    <a:pt x="0" y="294247"/>
                    <a:pt x="0" y="285919"/>
                  </a:cubicBezTo>
                  <a:lnTo>
                    <a:pt x="0" y="31403"/>
                  </a:lnTo>
                  <a:cubicBezTo>
                    <a:pt x="0" y="23074"/>
                    <a:pt x="3308" y="15087"/>
                    <a:pt x="9198" y="9198"/>
                  </a:cubicBezTo>
                  <a:cubicBezTo>
                    <a:pt x="15087" y="3308"/>
                    <a:pt x="23074" y="0"/>
                    <a:pt x="31403" y="0"/>
                  </a:cubicBezTo>
                  <a:close/>
                </a:path>
              </a:pathLst>
            </a:custGeom>
            <a:solidFill>
              <a:srgbClr val="FFFFFF"/>
            </a:solidFill>
            <a:ln w="104775" cap="rnd">
              <a:solidFill>
                <a:srgbClr val="023B88"/>
              </a:solidFill>
              <a:prstDash val="solid"/>
              <a:round/>
            </a:ln>
          </p:spPr>
          <p:txBody>
            <a:bodyPr/>
            <a:lstStyle/>
            <a:p>
              <a:endParaRPr lang="en-US"/>
            </a:p>
          </p:txBody>
        </p:sp>
        <p:sp>
          <p:nvSpPr>
            <p:cNvPr id="5" name="TextBox 5"/>
            <p:cNvSpPr txBox="1"/>
            <p:nvPr/>
          </p:nvSpPr>
          <p:spPr>
            <a:xfrm>
              <a:off x="0" y="-57150"/>
              <a:ext cx="1825753" cy="374471"/>
            </a:xfrm>
            <a:prstGeom prst="rect">
              <a:avLst/>
            </a:prstGeom>
          </p:spPr>
          <p:txBody>
            <a:bodyPr lIns="50800" tIns="50800" rIns="50800" bIns="50800" rtlCol="0" anchor="ctr"/>
            <a:lstStyle/>
            <a:p>
              <a:pPr marL="0" lvl="0" indent="0" algn="ctr">
                <a:lnSpc>
                  <a:spcPts val="3876"/>
                </a:lnSpc>
                <a:spcBef>
                  <a:spcPct val="0"/>
                </a:spcBef>
              </a:pPr>
              <a:r>
                <a:rPr lang="en-US" sz="2768">
                  <a:solidFill>
                    <a:srgbClr val="000000"/>
                  </a:solidFill>
                  <a:latin typeface="Montserrat"/>
                  <a:ea typeface="Montserrat"/>
                  <a:cs typeface="Montserrat"/>
                  <a:sym typeface="Montserrat"/>
                </a:rPr>
                <a:t>High operating costs despite using SAP ERP</a:t>
              </a:r>
            </a:p>
          </p:txBody>
        </p:sp>
      </p:grpSp>
      <p:grpSp>
        <p:nvGrpSpPr>
          <p:cNvPr id="6" name="Group 6"/>
          <p:cNvGrpSpPr/>
          <p:nvPr/>
        </p:nvGrpSpPr>
        <p:grpSpPr>
          <a:xfrm>
            <a:off x="9448792" y="3293285"/>
            <a:ext cx="8076064" cy="1371159"/>
            <a:chOff x="0" y="0"/>
            <a:chExt cx="1869009" cy="317321"/>
          </a:xfrm>
        </p:grpSpPr>
        <p:sp>
          <p:nvSpPr>
            <p:cNvPr id="7" name="Freeform 7"/>
            <p:cNvSpPr/>
            <p:nvPr/>
          </p:nvSpPr>
          <p:spPr>
            <a:xfrm>
              <a:off x="0" y="0"/>
              <a:ext cx="1869009" cy="317321"/>
            </a:xfrm>
            <a:custGeom>
              <a:avLst/>
              <a:gdLst/>
              <a:ahLst/>
              <a:cxnLst/>
              <a:rect l="l" t="t" r="r" b="b"/>
              <a:pathLst>
                <a:path w="1869009" h="317321">
                  <a:moveTo>
                    <a:pt x="30676" y="0"/>
                  </a:moveTo>
                  <a:lnTo>
                    <a:pt x="1838333" y="0"/>
                  </a:lnTo>
                  <a:cubicBezTo>
                    <a:pt x="1855275" y="0"/>
                    <a:pt x="1869009" y="13734"/>
                    <a:pt x="1869009" y="30676"/>
                  </a:cubicBezTo>
                  <a:lnTo>
                    <a:pt x="1869009" y="286645"/>
                  </a:lnTo>
                  <a:cubicBezTo>
                    <a:pt x="1869009" y="303587"/>
                    <a:pt x="1855275" y="317321"/>
                    <a:pt x="1838333" y="317321"/>
                  </a:cubicBezTo>
                  <a:lnTo>
                    <a:pt x="30676" y="317321"/>
                  </a:lnTo>
                  <a:cubicBezTo>
                    <a:pt x="13734" y="317321"/>
                    <a:pt x="0" y="303587"/>
                    <a:pt x="0" y="286645"/>
                  </a:cubicBezTo>
                  <a:lnTo>
                    <a:pt x="0" y="30676"/>
                  </a:lnTo>
                  <a:cubicBezTo>
                    <a:pt x="0" y="13734"/>
                    <a:pt x="13734" y="0"/>
                    <a:pt x="30676" y="0"/>
                  </a:cubicBezTo>
                  <a:close/>
                </a:path>
              </a:pathLst>
            </a:custGeom>
            <a:solidFill>
              <a:srgbClr val="FFFFFF"/>
            </a:solidFill>
            <a:ln w="104775" cap="rnd">
              <a:solidFill>
                <a:srgbClr val="023B88"/>
              </a:solidFill>
              <a:prstDash val="solid"/>
              <a:round/>
            </a:ln>
          </p:spPr>
          <p:txBody>
            <a:bodyPr/>
            <a:lstStyle/>
            <a:p>
              <a:endParaRPr lang="en-US"/>
            </a:p>
          </p:txBody>
        </p:sp>
        <p:sp>
          <p:nvSpPr>
            <p:cNvPr id="8" name="TextBox 8"/>
            <p:cNvSpPr txBox="1"/>
            <p:nvPr/>
          </p:nvSpPr>
          <p:spPr>
            <a:xfrm>
              <a:off x="0" y="-57150"/>
              <a:ext cx="1869009" cy="374471"/>
            </a:xfrm>
            <a:prstGeom prst="rect">
              <a:avLst/>
            </a:prstGeom>
          </p:spPr>
          <p:txBody>
            <a:bodyPr lIns="50800" tIns="50800" rIns="50800" bIns="50800" rtlCol="0" anchor="ctr"/>
            <a:lstStyle/>
            <a:p>
              <a:pPr marL="0" lvl="0" indent="0" algn="ctr">
                <a:lnSpc>
                  <a:spcPts val="3876"/>
                </a:lnSpc>
                <a:spcBef>
                  <a:spcPct val="0"/>
                </a:spcBef>
              </a:pPr>
              <a:r>
                <a:rPr lang="en-US" sz="2768">
                  <a:solidFill>
                    <a:srgbClr val="000000"/>
                  </a:solidFill>
                  <a:latin typeface="Montserrat"/>
                  <a:ea typeface="Montserrat"/>
                  <a:cs typeface="Montserrat"/>
                  <a:sym typeface="Montserrat"/>
                </a:rPr>
                <a:t>Lack of flexibility in adapting to project-specific needs</a:t>
              </a:r>
            </a:p>
          </p:txBody>
        </p:sp>
      </p:grpSp>
      <p:grpSp>
        <p:nvGrpSpPr>
          <p:cNvPr id="9" name="Group 9"/>
          <p:cNvGrpSpPr/>
          <p:nvPr/>
        </p:nvGrpSpPr>
        <p:grpSpPr>
          <a:xfrm>
            <a:off x="569513" y="5273239"/>
            <a:ext cx="8076064" cy="1371159"/>
            <a:chOff x="0" y="0"/>
            <a:chExt cx="1869009" cy="317321"/>
          </a:xfrm>
        </p:grpSpPr>
        <p:sp>
          <p:nvSpPr>
            <p:cNvPr id="10" name="Freeform 10"/>
            <p:cNvSpPr/>
            <p:nvPr/>
          </p:nvSpPr>
          <p:spPr>
            <a:xfrm>
              <a:off x="0" y="0"/>
              <a:ext cx="1869009" cy="317321"/>
            </a:xfrm>
            <a:custGeom>
              <a:avLst/>
              <a:gdLst/>
              <a:ahLst/>
              <a:cxnLst/>
              <a:rect l="l" t="t" r="r" b="b"/>
              <a:pathLst>
                <a:path w="1869009" h="317321">
                  <a:moveTo>
                    <a:pt x="30676" y="0"/>
                  </a:moveTo>
                  <a:lnTo>
                    <a:pt x="1838333" y="0"/>
                  </a:lnTo>
                  <a:cubicBezTo>
                    <a:pt x="1855275" y="0"/>
                    <a:pt x="1869009" y="13734"/>
                    <a:pt x="1869009" y="30676"/>
                  </a:cubicBezTo>
                  <a:lnTo>
                    <a:pt x="1869009" y="286645"/>
                  </a:lnTo>
                  <a:cubicBezTo>
                    <a:pt x="1869009" y="303587"/>
                    <a:pt x="1855275" y="317321"/>
                    <a:pt x="1838333" y="317321"/>
                  </a:cubicBezTo>
                  <a:lnTo>
                    <a:pt x="30676" y="317321"/>
                  </a:lnTo>
                  <a:cubicBezTo>
                    <a:pt x="13734" y="317321"/>
                    <a:pt x="0" y="303587"/>
                    <a:pt x="0" y="286645"/>
                  </a:cubicBezTo>
                  <a:lnTo>
                    <a:pt x="0" y="30676"/>
                  </a:lnTo>
                  <a:cubicBezTo>
                    <a:pt x="0" y="13734"/>
                    <a:pt x="13734" y="0"/>
                    <a:pt x="30676" y="0"/>
                  </a:cubicBezTo>
                  <a:close/>
                </a:path>
              </a:pathLst>
            </a:custGeom>
            <a:solidFill>
              <a:srgbClr val="FFFFFF"/>
            </a:solidFill>
            <a:ln w="104775" cap="rnd">
              <a:solidFill>
                <a:srgbClr val="023B88"/>
              </a:solidFill>
              <a:prstDash val="solid"/>
              <a:round/>
            </a:ln>
          </p:spPr>
          <p:txBody>
            <a:bodyPr/>
            <a:lstStyle/>
            <a:p>
              <a:endParaRPr lang="en-US"/>
            </a:p>
          </p:txBody>
        </p:sp>
        <p:sp>
          <p:nvSpPr>
            <p:cNvPr id="11" name="TextBox 11"/>
            <p:cNvSpPr txBox="1"/>
            <p:nvPr/>
          </p:nvSpPr>
          <p:spPr>
            <a:xfrm>
              <a:off x="0" y="-57150"/>
              <a:ext cx="1869009" cy="374471"/>
            </a:xfrm>
            <a:prstGeom prst="rect">
              <a:avLst/>
            </a:prstGeom>
          </p:spPr>
          <p:txBody>
            <a:bodyPr lIns="50800" tIns="50800" rIns="50800" bIns="50800" rtlCol="0" anchor="ctr"/>
            <a:lstStyle/>
            <a:p>
              <a:pPr marL="0" lvl="0" indent="0" algn="ctr">
                <a:lnSpc>
                  <a:spcPts val="3876"/>
                </a:lnSpc>
                <a:spcBef>
                  <a:spcPct val="0"/>
                </a:spcBef>
              </a:pPr>
              <a:r>
                <a:rPr lang="en-US" sz="2768">
                  <a:solidFill>
                    <a:srgbClr val="000000"/>
                  </a:solidFill>
                  <a:latin typeface="Montserrat"/>
                  <a:ea typeface="Montserrat"/>
                  <a:cs typeface="Montserrat"/>
                  <a:sym typeface="Montserrat"/>
                </a:rPr>
                <a:t>Heavy dependence on manual data entry and reporting</a:t>
              </a:r>
            </a:p>
          </p:txBody>
        </p:sp>
      </p:grpSp>
      <p:grpSp>
        <p:nvGrpSpPr>
          <p:cNvPr id="12" name="Group 12"/>
          <p:cNvGrpSpPr/>
          <p:nvPr/>
        </p:nvGrpSpPr>
        <p:grpSpPr>
          <a:xfrm>
            <a:off x="569513" y="7253998"/>
            <a:ext cx="8076064" cy="1371159"/>
            <a:chOff x="0" y="0"/>
            <a:chExt cx="1869009" cy="317321"/>
          </a:xfrm>
        </p:grpSpPr>
        <p:sp>
          <p:nvSpPr>
            <p:cNvPr id="13" name="Freeform 13"/>
            <p:cNvSpPr/>
            <p:nvPr/>
          </p:nvSpPr>
          <p:spPr>
            <a:xfrm>
              <a:off x="0" y="0"/>
              <a:ext cx="1869009" cy="317321"/>
            </a:xfrm>
            <a:custGeom>
              <a:avLst/>
              <a:gdLst/>
              <a:ahLst/>
              <a:cxnLst/>
              <a:rect l="l" t="t" r="r" b="b"/>
              <a:pathLst>
                <a:path w="1869009" h="317321">
                  <a:moveTo>
                    <a:pt x="30676" y="0"/>
                  </a:moveTo>
                  <a:lnTo>
                    <a:pt x="1838333" y="0"/>
                  </a:lnTo>
                  <a:cubicBezTo>
                    <a:pt x="1855275" y="0"/>
                    <a:pt x="1869009" y="13734"/>
                    <a:pt x="1869009" y="30676"/>
                  </a:cubicBezTo>
                  <a:lnTo>
                    <a:pt x="1869009" y="286645"/>
                  </a:lnTo>
                  <a:cubicBezTo>
                    <a:pt x="1869009" y="303587"/>
                    <a:pt x="1855275" y="317321"/>
                    <a:pt x="1838333" y="317321"/>
                  </a:cubicBezTo>
                  <a:lnTo>
                    <a:pt x="30676" y="317321"/>
                  </a:lnTo>
                  <a:cubicBezTo>
                    <a:pt x="13734" y="317321"/>
                    <a:pt x="0" y="303587"/>
                    <a:pt x="0" y="286645"/>
                  </a:cubicBezTo>
                  <a:lnTo>
                    <a:pt x="0" y="30676"/>
                  </a:lnTo>
                  <a:cubicBezTo>
                    <a:pt x="0" y="13734"/>
                    <a:pt x="13734" y="0"/>
                    <a:pt x="30676" y="0"/>
                  </a:cubicBezTo>
                  <a:close/>
                </a:path>
              </a:pathLst>
            </a:custGeom>
            <a:solidFill>
              <a:srgbClr val="FFFFFF"/>
            </a:solidFill>
            <a:ln w="104775" cap="rnd">
              <a:solidFill>
                <a:srgbClr val="023B88"/>
              </a:solidFill>
              <a:prstDash val="solid"/>
              <a:round/>
            </a:ln>
          </p:spPr>
          <p:txBody>
            <a:bodyPr/>
            <a:lstStyle/>
            <a:p>
              <a:endParaRPr lang="en-US"/>
            </a:p>
          </p:txBody>
        </p:sp>
        <p:sp>
          <p:nvSpPr>
            <p:cNvPr id="14" name="TextBox 14"/>
            <p:cNvSpPr txBox="1"/>
            <p:nvPr/>
          </p:nvSpPr>
          <p:spPr>
            <a:xfrm>
              <a:off x="0" y="-57150"/>
              <a:ext cx="1869009" cy="374471"/>
            </a:xfrm>
            <a:prstGeom prst="rect">
              <a:avLst/>
            </a:prstGeom>
          </p:spPr>
          <p:txBody>
            <a:bodyPr lIns="50800" tIns="50800" rIns="50800" bIns="50800" rtlCol="0" anchor="ctr"/>
            <a:lstStyle/>
            <a:p>
              <a:pPr marL="0" lvl="0" indent="0" algn="ctr">
                <a:lnSpc>
                  <a:spcPts val="3876"/>
                </a:lnSpc>
                <a:spcBef>
                  <a:spcPct val="0"/>
                </a:spcBef>
              </a:pPr>
              <a:r>
                <a:rPr lang="en-US" sz="2768">
                  <a:solidFill>
                    <a:srgbClr val="000000"/>
                  </a:solidFill>
                  <a:latin typeface="Montserrat"/>
                  <a:ea typeface="Montserrat"/>
                  <a:cs typeface="Montserrat"/>
                  <a:sym typeface="Montserrat"/>
                </a:rPr>
                <a:t>Delays in internal communication and coordination</a:t>
              </a:r>
            </a:p>
          </p:txBody>
        </p:sp>
      </p:grpSp>
      <p:grpSp>
        <p:nvGrpSpPr>
          <p:cNvPr id="15" name="Group 15"/>
          <p:cNvGrpSpPr/>
          <p:nvPr/>
        </p:nvGrpSpPr>
        <p:grpSpPr>
          <a:xfrm>
            <a:off x="9448792" y="5273239"/>
            <a:ext cx="8076064" cy="1371159"/>
            <a:chOff x="0" y="0"/>
            <a:chExt cx="1869009" cy="317321"/>
          </a:xfrm>
        </p:grpSpPr>
        <p:sp>
          <p:nvSpPr>
            <p:cNvPr id="16" name="Freeform 16"/>
            <p:cNvSpPr/>
            <p:nvPr/>
          </p:nvSpPr>
          <p:spPr>
            <a:xfrm>
              <a:off x="0" y="0"/>
              <a:ext cx="1869009" cy="317321"/>
            </a:xfrm>
            <a:custGeom>
              <a:avLst/>
              <a:gdLst/>
              <a:ahLst/>
              <a:cxnLst/>
              <a:rect l="l" t="t" r="r" b="b"/>
              <a:pathLst>
                <a:path w="1869009" h="317321">
                  <a:moveTo>
                    <a:pt x="30676" y="0"/>
                  </a:moveTo>
                  <a:lnTo>
                    <a:pt x="1838333" y="0"/>
                  </a:lnTo>
                  <a:cubicBezTo>
                    <a:pt x="1855275" y="0"/>
                    <a:pt x="1869009" y="13734"/>
                    <a:pt x="1869009" y="30676"/>
                  </a:cubicBezTo>
                  <a:lnTo>
                    <a:pt x="1869009" y="286645"/>
                  </a:lnTo>
                  <a:cubicBezTo>
                    <a:pt x="1869009" y="303587"/>
                    <a:pt x="1855275" y="317321"/>
                    <a:pt x="1838333" y="317321"/>
                  </a:cubicBezTo>
                  <a:lnTo>
                    <a:pt x="30676" y="317321"/>
                  </a:lnTo>
                  <a:cubicBezTo>
                    <a:pt x="13734" y="317321"/>
                    <a:pt x="0" y="303587"/>
                    <a:pt x="0" y="286645"/>
                  </a:cubicBezTo>
                  <a:lnTo>
                    <a:pt x="0" y="30676"/>
                  </a:lnTo>
                  <a:cubicBezTo>
                    <a:pt x="0" y="13734"/>
                    <a:pt x="13734" y="0"/>
                    <a:pt x="30676" y="0"/>
                  </a:cubicBezTo>
                  <a:close/>
                </a:path>
              </a:pathLst>
            </a:custGeom>
            <a:solidFill>
              <a:srgbClr val="FFFFFF"/>
            </a:solidFill>
            <a:ln w="104775" cap="rnd">
              <a:solidFill>
                <a:srgbClr val="023B88"/>
              </a:solidFill>
              <a:prstDash val="solid"/>
              <a:round/>
            </a:ln>
          </p:spPr>
          <p:txBody>
            <a:bodyPr/>
            <a:lstStyle/>
            <a:p>
              <a:endParaRPr lang="en-US"/>
            </a:p>
          </p:txBody>
        </p:sp>
        <p:sp>
          <p:nvSpPr>
            <p:cNvPr id="17" name="TextBox 17"/>
            <p:cNvSpPr txBox="1"/>
            <p:nvPr/>
          </p:nvSpPr>
          <p:spPr>
            <a:xfrm>
              <a:off x="0" y="-57150"/>
              <a:ext cx="1869009" cy="374471"/>
            </a:xfrm>
            <a:prstGeom prst="rect">
              <a:avLst/>
            </a:prstGeom>
          </p:spPr>
          <p:txBody>
            <a:bodyPr lIns="50800" tIns="50800" rIns="50800" bIns="50800" rtlCol="0" anchor="ctr"/>
            <a:lstStyle/>
            <a:p>
              <a:pPr marL="0" lvl="0" indent="0" algn="ctr">
                <a:lnSpc>
                  <a:spcPts val="3876"/>
                </a:lnSpc>
                <a:spcBef>
                  <a:spcPct val="0"/>
                </a:spcBef>
              </a:pPr>
              <a:r>
                <a:rPr lang="en-US" sz="2768">
                  <a:solidFill>
                    <a:srgbClr val="000000"/>
                  </a:solidFill>
                  <a:latin typeface="Montserrat"/>
                  <a:ea typeface="Montserrat"/>
                  <a:cs typeface="Montserrat"/>
                  <a:sym typeface="Montserrat"/>
                </a:rPr>
                <a:t>Difficulty in tracking project progress in real-time</a:t>
              </a:r>
            </a:p>
          </p:txBody>
        </p:sp>
      </p:grpSp>
      <p:grpSp>
        <p:nvGrpSpPr>
          <p:cNvPr id="18" name="Group 18"/>
          <p:cNvGrpSpPr/>
          <p:nvPr/>
        </p:nvGrpSpPr>
        <p:grpSpPr>
          <a:xfrm>
            <a:off x="9448792" y="7253998"/>
            <a:ext cx="8076064" cy="1371159"/>
            <a:chOff x="0" y="0"/>
            <a:chExt cx="1869009" cy="317321"/>
          </a:xfrm>
        </p:grpSpPr>
        <p:sp>
          <p:nvSpPr>
            <p:cNvPr id="19" name="Freeform 19"/>
            <p:cNvSpPr/>
            <p:nvPr/>
          </p:nvSpPr>
          <p:spPr>
            <a:xfrm>
              <a:off x="0" y="0"/>
              <a:ext cx="1869009" cy="317321"/>
            </a:xfrm>
            <a:custGeom>
              <a:avLst/>
              <a:gdLst/>
              <a:ahLst/>
              <a:cxnLst/>
              <a:rect l="l" t="t" r="r" b="b"/>
              <a:pathLst>
                <a:path w="1869009" h="317321">
                  <a:moveTo>
                    <a:pt x="30676" y="0"/>
                  </a:moveTo>
                  <a:lnTo>
                    <a:pt x="1838333" y="0"/>
                  </a:lnTo>
                  <a:cubicBezTo>
                    <a:pt x="1855275" y="0"/>
                    <a:pt x="1869009" y="13734"/>
                    <a:pt x="1869009" y="30676"/>
                  </a:cubicBezTo>
                  <a:lnTo>
                    <a:pt x="1869009" y="286645"/>
                  </a:lnTo>
                  <a:cubicBezTo>
                    <a:pt x="1869009" y="303587"/>
                    <a:pt x="1855275" y="317321"/>
                    <a:pt x="1838333" y="317321"/>
                  </a:cubicBezTo>
                  <a:lnTo>
                    <a:pt x="30676" y="317321"/>
                  </a:lnTo>
                  <a:cubicBezTo>
                    <a:pt x="13734" y="317321"/>
                    <a:pt x="0" y="303587"/>
                    <a:pt x="0" y="286645"/>
                  </a:cubicBezTo>
                  <a:lnTo>
                    <a:pt x="0" y="30676"/>
                  </a:lnTo>
                  <a:cubicBezTo>
                    <a:pt x="0" y="13734"/>
                    <a:pt x="13734" y="0"/>
                    <a:pt x="30676" y="0"/>
                  </a:cubicBezTo>
                  <a:close/>
                </a:path>
              </a:pathLst>
            </a:custGeom>
            <a:solidFill>
              <a:srgbClr val="FFFFFF"/>
            </a:solidFill>
            <a:ln w="104775" cap="rnd">
              <a:solidFill>
                <a:srgbClr val="023B88"/>
              </a:solidFill>
              <a:prstDash val="solid"/>
              <a:round/>
            </a:ln>
          </p:spPr>
          <p:txBody>
            <a:bodyPr/>
            <a:lstStyle/>
            <a:p>
              <a:endParaRPr lang="en-US"/>
            </a:p>
          </p:txBody>
        </p:sp>
        <p:sp>
          <p:nvSpPr>
            <p:cNvPr id="20" name="TextBox 20"/>
            <p:cNvSpPr txBox="1"/>
            <p:nvPr/>
          </p:nvSpPr>
          <p:spPr>
            <a:xfrm>
              <a:off x="0" y="-57150"/>
              <a:ext cx="1869009" cy="374471"/>
            </a:xfrm>
            <a:prstGeom prst="rect">
              <a:avLst/>
            </a:prstGeom>
          </p:spPr>
          <p:txBody>
            <a:bodyPr lIns="50800" tIns="50800" rIns="50800" bIns="50800" rtlCol="0" anchor="ctr"/>
            <a:lstStyle/>
            <a:p>
              <a:pPr marL="0" lvl="0" indent="0" algn="ctr">
                <a:lnSpc>
                  <a:spcPts val="3876"/>
                </a:lnSpc>
                <a:spcBef>
                  <a:spcPct val="0"/>
                </a:spcBef>
              </a:pPr>
              <a:r>
                <a:rPr lang="en-US" sz="2768">
                  <a:solidFill>
                    <a:srgbClr val="000000"/>
                  </a:solidFill>
                  <a:latin typeface="Montserrat"/>
                  <a:ea typeface="Montserrat"/>
                  <a:cs typeface="Montserrat"/>
                  <a:sym typeface="Montserrat"/>
                </a:rPr>
                <a:t>Inefficient HR and resource management processes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530079"/>
            <a:ext cx="7410574" cy="1301212"/>
          </a:xfrm>
          <a:prstGeom prst="rect">
            <a:avLst/>
          </a:prstGeom>
        </p:spPr>
        <p:txBody>
          <a:bodyPr lIns="0" tIns="0" rIns="0" bIns="0" rtlCol="0" anchor="t">
            <a:spAutoFit/>
          </a:bodyPr>
          <a:lstStyle/>
          <a:p>
            <a:pPr marL="0" lvl="0" indent="0" algn="l">
              <a:lnSpc>
                <a:spcPts val="10704"/>
              </a:lnSpc>
              <a:spcBef>
                <a:spcPct val="0"/>
              </a:spcBef>
            </a:pPr>
            <a:r>
              <a:rPr lang="en-US" sz="7646" b="1" spc="-152">
                <a:solidFill>
                  <a:srgbClr val="023B88"/>
                </a:solidFill>
                <a:latin typeface="Montserrat Bold"/>
                <a:ea typeface="Montserrat Bold"/>
                <a:cs typeface="Montserrat Bold"/>
                <a:sym typeface="Montserrat Bold"/>
              </a:rPr>
              <a:t>Objectives</a:t>
            </a:r>
          </a:p>
        </p:txBody>
      </p:sp>
      <p:grpSp>
        <p:nvGrpSpPr>
          <p:cNvPr id="3" name="Group 3"/>
          <p:cNvGrpSpPr/>
          <p:nvPr/>
        </p:nvGrpSpPr>
        <p:grpSpPr>
          <a:xfrm>
            <a:off x="1028700" y="3395274"/>
            <a:ext cx="16230600" cy="1766321"/>
            <a:chOff x="0" y="0"/>
            <a:chExt cx="3756178" cy="408772"/>
          </a:xfrm>
        </p:grpSpPr>
        <p:sp>
          <p:nvSpPr>
            <p:cNvPr id="4" name="Freeform 4"/>
            <p:cNvSpPr/>
            <p:nvPr/>
          </p:nvSpPr>
          <p:spPr>
            <a:xfrm>
              <a:off x="0" y="0"/>
              <a:ext cx="3756178" cy="408772"/>
            </a:xfrm>
            <a:custGeom>
              <a:avLst/>
              <a:gdLst/>
              <a:ahLst/>
              <a:cxnLst/>
              <a:rect l="l" t="t" r="r" b="b"/>
              <a:pathLst>
                <a:path w="3756178" h="408772">
                  <a:moveTo>
                    <a:pt x="15264" y="0"/>
                  </a:moveTo>
                  <a:lnTo>
                    <a:pt x="3740915" y="0"/>
                  </a:lnTo>
                  <a:cubicBezTo>
                    <a:pt x="3744963" y="0"/>
                    <a:pt x="3748845" y="1608"/>
                    <a:pt x="3751708" y="4471"/>
                  </a:cubicBezTo>
                  <a:cubicBezTo>
                    <a:pt x="3754570" y="7333"/>
                    <a:pt x="3756178" y="11216"/>
                    <a:pt x="3756178" y="15264"/>
                  </a:cubicBezTo>
                  <a:lnTo>
                    <a:pt x="3756178" y="393508"/>
                  </a:lnTo>
                  <a:cubicBezTo>
                    <a:pt x="3756178" y="397557"/>
                    <a:pt x="3754570" y="401439"/>
                    <a:pt x="3751708" y="404302"/>
                  </a:cubicBezTo>
                  <a:cubicBezTo>
                    <a:pt x="3748845" y="407164"/>
                    <a:pt x="3744963" y="408772"/>
                    <a:pt x="3740915" y="408772"/>
                  </a:cubicBezTo>
                  <a:lnTo>
                    <a:pt x="15264" y="408772"/>
                  </a:lnTo>
                  <a:cubicBezTo>
                    <a:pt x="11216" y="408772"/>
                    <a:pt x="7333" y="407164"/>
                    <a:pt x="4471" y="404302"/>
                  </a:cubicBezTo>
                  <a:cubicBezTo>
                    <a:pt x="1608" y="401439"/>
                    <a:pt x="0" y="397557"/>
                    <a:pt x="0" y="393508"/>
                  </a:cubicBezTo>
                  <a:lnTo>
                    <a:pt x="0" y="15264"/>
                  </a:lnTo>
                  <a:cubicBezTo>
                    <a:pt x="0" y="11216"/>
                    <a:pt x="1608" y="7333"/>
                    <a:pt x="4471" y="4471"/>
                  </a:cubicBezTo>
                  <a:cubicBezTo>
                    <a:pt x="7333" y="1608"/>
                    <a:pt x="11216" y="0"/>
                    <a:pt x="15264" y="0"/>
                  </a:cubicBezTo>
                  <a:close/>
                </a:path>
              </a:pathLst>
            </a:custGeom>
            <a:solidFill>
              <a:srgbClr val="FFFFFF"/>
            </a:solidFill>
            <a:ln w="104775" cap="rnd">
              <a:solidFill>
                <a:srgbClr val="023B88"/>
              </a:solidFill>
              <a:prstDash val="solid"/>
              <a:round/>
            </a:ln>
          </p:spPr>
          <p:txBody>
            <a:bodyPr/>
            <a:lstStyle/>
            <a:p>
              <a:endParaRPr lang="en-US"/>
            </a:p>
          </p:txBody>
        </p:sp>
        <p:sp>
          <p:nvSpPr>
            <p:cNvPr id="5" name="TextBox 5"/>
            <p:cNvSpPr txBox="1"/>
            <p:nvPr/>
          </p:nvSpPr>
          <p:spPr>
            <a:xfrm>
              <a:off x="0" y="-57150"/>
              <a:ext cx="3756178" cy="465922"/>
            </a:xfrm>
            <a:prstGeom prst="rect">
              <a:avLst/>
            </a:prstGeom>
          </p:spPr>
          <p:txBody>
            <a:bodyPr lIns="50800" tIns="50800" rIns="50800" bIns="50800" rtlCol="0" anchor="ctr"/>
            <a:lstStyle/>
            <a:p>
              <a:pPr marL="0" lvl="0" indent="0" algn="ctr">
                <a:lnSpc>
                  <a:spcPts val="3876"/>
                </a:lnSpc>
                <a:spcBef>
                  <a:spcPct val="0"/>
                </a:spcBef>
              </a:pPr>
              <a:r>
                <a:rPr lang="en-US" sz="2768">
                  <a:solidFill>
                    <a:srgbClr val="000000"/>
                  </a:solidFill>
                  <a:latin typeface="Montserrat"/>
                  <a:ea typeface="Montserrat"/>
                  <a:cs typeface="Montserrat"/>
                  <a:sym typeface="Montserrat"/>
                </a:rPr>
                <a:t>Streamline overall company operations</a:t>
              </a:r>
            </a:p>
          </p:txBody>
        </p:sp>
      </p:grpSp>
      <p:grpSp>
        <p:nvGrpSpPr>
          <p:cNvPr id="6" name="Group 6"/>
          <p:cNvGrpSpPr/>
          <p:nvPr/>
        </p:nvGrpSpPr>
        <p:grpSpPr>
          <a:xfrm>
            <a:off x="1028700" y="5725578"/>
            <a:ext cx="16230600" cy="1766321"/>
            <a:chOff x="0" y="0"/>
            <a:chExt cx="3756178" cy="408772"/>
          </a:xfrm>
        </p:grpSpPr>
        <p:sp>
          <p:nvSpPr>
            <p:cNvPr id="7" name="Freeform 7"/>
            <p:cNvSpPr/>
            <p:nvPr/>
          </p:nvSpPr>
          <p:spPr>
            <a:xfrm>
              <a:off x="0" y="0"/>
              <a:ext cx="3756178" cy="408772"/>
            </a:xfrm>
            <a:custGeom>
              <a:avLst/>
              <a:gdLst/>
              <a:ahLst/>
              <a:cxnLst/>
              <a:rect l="l" t="t" r="r" b="b"/>
              <a:pathLst>
                <a:path w="3756178" h="408772">
                  <a:moveTo>
                    <a:pt x="15264" y="0"/>
                  </a:moveTo>
                  <a:lnTo>
                    <a:pt x="3740915" y="0"/>
                  </a:lnTo>
                  <a:cubicBezTo>
                    <a:pt x="3744963" y="0"/>
                    <a:pt x="3748845" y="1608"/>
                    <a:pt x="3751708" y="4471"/>
                  </a:cubicBezTo>
                  <a:cubicBezTo>
                    <a:pt x="3754570" y="7333"/>
                    <a:pt x="3756178" y="11216"/>
                    <a:pt x="3756178" y="15264"/>
                  </a:cubicBezTo>
                  <a:lnTo>
                    <a:pt x="3756178" y="393508"/>
                  </a:lnTo>
                  <a:cubicBezTo>
                    <a:pt x="3756178" y="397557"/>
                    <a:pt x="3754570" y="401439"/>
                    <a:pt x="3751708" y="404302"/>
                  </a:cubicBezTo>
                  <a:cubicBezTo>
                    <a:pt x="3748845" y="407164"/>
                    <a:pt x="3744963" y="408772"/>
                    <a:pt x="3740915" y="408772"/>
                  </a:cubicBezTo>
                  <a:lnTo>
                    <a:pt x="15264" y="408772"/>
                  </a:lnTo>
                  <a:cubicBezTo>
                    <a:pt x="11216" y="408772"/>
                    <a:pt x="7333" y="407164"/>
                    <a:pt x="4471" y="404302"/>
                  </a:cubicBezTo>
                  <a:cubicBezTo>
                    <a:pt x="1608" y="401439"/>
                    <a:pt x="0" y="397557"/>
                    <a:pt x="0" y="393508"/>
                  </a:cubicBezTo>
                  <a:lnTo>
                    <a:pt x="0" y="15264"/>
                  </a:lnTo>
                  <a:cubicBezTo>
                    <a:pt x="0" y="11216"/>
                    <a:pt x="1608" y="7333"/>
                    <a:pt x="4471" y="4471"/>
                  </a:cubicBezTo>
                  <a:cubicBezTo>
                    <a:pt x="7333" y="1608"/>
                    <a:pt x="11216" y="0"/>
                    <a:pt x="15264" y="0"/>
                  </a:cubicBezTo>
                  <a:close/>
                </a:path>
              </a:pathLst>
            </a:custGeom>
            <a:solidFill>
              <a:srgbClr val="FFFFFF"/>
            </a:solidFill>
            <a:ln w="104775" cap="rnd">
              <a:solidFill>
                <a:srgbClr val="023B88"/>
              </a:solidFill>
              <a:prstDash val="solid"/>
              <a:round/>
            </a:ln>
          </p:spPr>
          <p:txBody>
            <a:bodyPr/>
            <a:lstStyle/>
            <a:p>
              <a:endParaRPr lang="en-US"/>
            </a:p>
          </p:txBody>
        </p:sp>
        <p:sp>
          <p:nvSpPr>
            <p:cNvPr id="8" name="TextBox 8"/>
            <p:cNvSpPr txBox="1"/>
            <p:nvPr/>
          </p:nvSpPr>
          <p:spPr>
            <a:xfrm>
              <a:off x="0" y="-57150"/>
              <a:ext cx="3756178" cy="465922"/>
            </a:xfrm>
            <a:prstGeom prst="rect">
              <a:avLst/>
            </a:prstGeom>
          </p:spPr>
          <p:txBody>
            <a:bodyPr lIns="50800" tIns="50800" rIns="50800" bIns="50800" rtlCol="0" anchor="ctr"/>
            <a:lstStyle/>
            <a:p>
              <a:pPr marL="0" lvl="0" indent="0" algn="ctr">
                <a:lnSpc>
                  <a:spcPts val="3876"/>
                </a:lnSpc>
                <a:spcBef>
                  <a:spcPct val="0"/>
                </a:spcBef>
              </a:pPr>
              <a:r>
                <a:rPr lang="en-US" sz="2768">
                  <a:solidFill>
                    <a:srgbClr val="000000"/>
                  </a:solidFill>
                  <a:latin typeface="Montserrat"/>
                  <a:ea typeface="Montserrat"/>
                  <a:cs typeface="Montserrat"/>
                  <a:sym typeface="Montserrat"/>
                </a:rPr>
                <a:t>Automate routine tasks through selected Odoo ERP modules</a:t>
              </a:r>
            </a:p>
          </p:txBody>
        </p:sp>
      </p:grpSp>
      <p:grpSp>
        <p:nvGrpSpPr>
          <p:cNvPr id="9" name="Group 9"/>
          <p:cNvGrpSpPr/>
          <p:nvPr/>
        </p:nvGrpSpPr>
        <p:grpSpPr>
          <a:xfrm>
            <a:off x="1028700" y="8053874"/>
            <a:ext cx="16230600" cy="1766321"/>
            <a:chOff x="0" y="0"/>
            <a:chExt cx="3756178" cy="408772"/>
          </a:xfrm>
        </p:grpSpPr>
        <p:sp>
          <p:nvSpPr>
            <p:cNvPr id="10" name="Freeform 10"/>
            <p:cNvSpPr/>
            <p:nvPr/>
          </p:nvSpPr>
          <p:spPr>
            <a:xfrm>
              <a:off x="0" y="0"/>
              <a:ext cx="3756178" cy="408772"/>
            </a:xfrm>
            <a:custGeom>
              <a:avLst/>
              <a:gdLst/>
              <a:ahLst/>
              <a:cxnLst/>
              <a:rect l="l" t="t" r="r" b="b"/>
              <a:pathLst>
                <a:path w="3756178" h="408772">
                  <a:moveTo>
                    <a:pt x="15264" y="0"/>
                  </a:moveTo>
                  <a:lnTo>
                    <a:pt x="3740915" y="0"/>
                  </a:lnTo>
                  <a:cubicBezTo>
                    <a:pt x="3744963" y="0"/>
                    <a:pt x="3748845" y="1608"/>
                    <a:pt x="3751708" y="4471"/>
                  </a:cubicBezTo>
                  <a:cubicBezTo>
                    <a:pt x="3754570" y="7333"/>
                    <a:pt x="3756178" y="11216"/>
                    <a:pt x="3756178" y="15264"/>
                  </a:cubicBezTo>
                  <a:lnTo>
                    <a:pt x="3756178" y="393508"/>
                  </a:lnTo>
                  <a:cubicBezTo>
                    <a:pt x="3756178" y="397557"/>
                    <a:pt x="3754570" y="401439"/>
                    <a:pt x="3751708" y="404302"/>
                  </a:cubicBezTo>
                  <a:cubicBezTo>
                    <a:pt x="3748845" y="407164"/>
                    <a:pt x="3744963" y="408772"/>
                    <a:pt x="3740915" y="408772"/>
                  </a:cubicBezTo>
                  <a:lnTo>
                    <a:pt x="15264" y="408772"/>
                  </a:lnTo>
                  <a:cubicBezTo>
                    <a:pt x="11216" y="408772"/>
                    <a:pt x="7333" y="407164"/>
                    <a:pt x="4471" y="404302"/>
                  </a:cubicBezTo>
                  <a:cubicBezTo>
                    <a:pt x="1608" y="401439"/>
                    <a:pt x="0" y="397557"/>
                    <a:pt x="0" y="393508"/>
                  </a:cubicBezTo>
                  <a:lnTo>
                    <a:pt x="0" y="15264"/>
                  </a:lnTo>
                  <a:cubicBezTo>
                    <a:pt x="0" y="11216"/>
                    <a:pt x="1608" y="7333"/>
                    <a:pt x="4471" y="4471"/>
                  </a:cubicBezTo>
                  <a:cubicBezTo>
                    <a:pt x="7333" y="1608"/>
                    <a:pt x="11216" y="0"/>
                    <a:pt x="15264" y="0"/>
                  </a:cubicBezTo>
                  <a:close/>
                </a:path>
              </a:pathLst>
            </a:custGeom>
            <a:solidFill>
              <a:srgbClr val="FFFFFF"/>
            </a:solidFill>
            <a:ln w="104775" cap="rnd">
              <a:solidFill>
                <a:srgbClr val="023B88"/>
              </a:solidFill>
              <a:prstDash val="solid"/>
              <a:round/>
            </a:ln>
          </p:spPr>
          <p:txBody>
            <a:bodyPr/>
            <a:lstStyle/>
            <a:p>
              <a:endParaRPr lang="en-US"/>
            </a:p>
          </p:txBody>
        </p:sp>
        <p:sp>
          <p:nvSpPr>
            <p:cNvPr id="11" name="TextBox 11"/>
            <p:cNvSpPr txBox="1"/>
            <p:nvPr/>
          </p:nvSpPr>
          <p:spPr>
            <a:xfrm>
              <a:off x="0" y="-57150"/>
              <a:ext cx="3756178" cy="465922"/>
            </a:xfrm>
            <a:prstGeom prst="rect">
              <a:avLst/>
            </a:prstGeom>
          </p:spPr>
          <p:txBody>
            <a:bodyPr lIns="50800" tIns="50800" rIns="50800" bIns="50800" rtlCol="0" anchor="ctr"/>
            <a:lstStyle/>
            <a:p>
              <a:pPr marL="0" lvl="0" indent="0" algn="ctr">
                <a:lnSpc>
                  <a:spcPts val="3876"/>
                </a:lnSpc>
                <a:spcBef>
                  <a:spcPct val="0"/>
                </a:spcBef>
              </a:pPr>
              <a:r>
                <a:rPr lang="en-US" sz="2768">
                  <a:solidFill>
                    <a:srgbClr val="000000"/>
                  </a:solidFill>
                  <a:latin typeface="Montserrat"/>
                  <a:ea typeface="Montserrat"/>
                  <a:cs typeface="Montserrat"/>
                  <a:sym typeface="Montserrat"/>
                </a:rPr>
                <a:t>Improve project tracking for better visibility and control</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5665755"/>
            <a:ext cx="3341034" cy="3725944"/>
          </a:xfrm>
          <a:custGeom>
            <a:avLst/>
            <a:gdLst/>
            <a:ahLst/>
            <a:cxnLst/>
            <a:rect l="l" t="t" r="r" b="b"/>
            <a:pathLst>
              <a:path w="3341034" h="3725944">
                <a:moveTo>
                  <a:pt x="0" y="0"/>
                </a:moveTo>
                <a:lnTo>
                  <a:pt x="3341034" y="0"/>
                </a:lnTo>
                <a:lnTo>
                  <a:pt x="3341034" y="3725944"/>
                </a:lnTo>
                <a:lnTo>
                  <a:pt x="0" y="3725944"/>
                </a:lnTo>
                <a:lnTo>
                  <a:pt x="0" y="0"/>
                </a:lnTo>
                <a:close/>
              </a:path>
            </a:pathLst>
          </a:custGeom>
          <a:blipFill>
            <a:blip r:embed="rId2"/>
            <a:stretch>
              <a:fillRect l="-98258"/>
            </a:stretch>
          </a:blipFill>
        </p:spPr>
        <p:txBody>
          <a:bodyPr/>
          <a:lstStyle/>
          <a:p>
            <a:endParaRPr lang="en-US"/>
          </a:p>
        </p:txBody>
      </p:sp>
      <p:sp>
        <p:nvSpPr>
          <p:cNvPr id="3" name="Freeform 3"/>
          <p:cNvSpPr/>
          <p:nvPr/>
        </p:nvSpPr>
        <p:spPr>
          <a:xfrm>
            <a:off x="3549587" y="5826319"/>
            <a:ext cx="2641597" cy="3115892"/>
          </a:xfrm>
          <a:custGeom>
            <a:avLst/>
            <a:gdLst/>
            <a:ahLst/>
            <a:cxnLst/>
            <a:rect l="l" t="t" r="r" b="b"/>
            <a:pathLst>
              <a:path w="2641597" h="3115892">
                <a:moveTo>
                  <a:pt x="0" y="0"/>
                </a:moveTo>
                <a:lnTo>
                  <a:pt x="2641597" y="0"/>
                </a:lnTo>
                <a:lnTo>
                  <a:pt x="2641597" y="3115892"/>
                </a:lnTo>
                <a:lnTo>
                  <a:pt x="0" y="3115892"/>
                </a:lnTo>
                <a:lnTo>
                  <a:pt x="0" y="0"/>
                </a:lnTo>
                <a:close/>
              </a:path>
            </a:pathLst>
          </a:custGeom>
          <a:blipFill>
            <a:blip r:embed="rId3"/>
            <a:stretch>
              <a:fillRect l="-109697"/>
            </a:stretch>
          </a:blipFill>
        </p:spPr>
        <p:txBody>
          <a:bodyPr/>
          <a:lstStyle/>
          <a:p>
            <a:endParaRPr lang="en-US"/>
          </a:p>
        </p:txBody>
      </p:sp>
      <p:sp>
        <p:nvSpPr>
          <p:cNvPr id="4" name="Freeform 4"/>
          <p:cNvSpPr/>
          <p:nvPr/>
        </p:nvSpPr>
        <p:spPr>
          <a:xfrm>
            <a:off x="0" y="1978025"/>
            <a:ext cx="3332210" cy="3918427"/>
          </a:xfrm>
          <a:custGeom>
            <a:avLst/>
            <a:gdLst/>
            <a:ahLst/>
            <a:cxnLst/>
            <a:rect l="l" t="t" r="r" b="b"/>
            <a:pathLst>
              <a:path w="3332210" h="3918427">
                <a:moveTo>
                  <a:pt x="0" y="0"/>
                </a:moveTo>
                <a:lnTo>
                  <a:pt x="3332210" y="0"/>
                </a:lnTo>
                <a:lnTo>
                  <a:pt x="3332210" y="3918427"/>
                </a:lnTo>
                <a:lnTo>
                  <a:pt x="0" y="3918427"/>
                </a:lnTo>
                <a:lnTo>
                  <a:pt x="0" y="0"/>
                </a:lnTo>
                <a:close/>
              </a:path>
            </a:pathLst>
          </a:custGeom>
          <a:blipFill>
            <a:blip r:embed="rId4"/>
            <a:stretch>
              <a:fillRect l="-109697" t="-308"/>
            </a:stretch>
          </a:blipFill>
        </p:spPr>
        <p:txBody>
          <a:bodyPr/>
          <a:lstStyle/>
          <a:p>
            <a:endParaRPr lang="en-US"/>
          </a:p>
        </p:txBody>
      </p:sp>
      <p:sp>
        <p:nvSpPr>
          <p:cNvPr id="5" name="Freeform 5"/>
          <p:cNvSpPr/>
          <p:nvPr/>
        </p:nvSpPr>
        <p:spPr>
          <a:xfrm>
            <a:off x="15061601" y="2415416"/>
            <a:ext cx="2936191" cy="3410903"/>
          </a:xfrm>
          <a:custGeom>
            <a:avLst/>
            <a:gdLst/>
            <a:ahLst/>
            <a:cxnLst/>
            <a:rect l="l" t="t" r="r" b="b"/>
            <a:pathLst>
              <a:path w="2936191" h="3410903">
                <a:moveTo>
                  <a:pt x="0" y="0"/>
                </a:moveTo>
                <a:lnTo>
                  <a:pt x="2936191" y="0"/>
                </a:lnTo>
                <a:lnTo>
                  <a:pt x="2936191" y="3410903"/>
                </a:lnTo>
                <a:lnTo>
                  <a:pt x="0" y="3410903"/>
                </a:lnTo>
                <a:lnTo>
                  <a:pt x="0" y="0"/>
                </a:lnTo>
                <a:close/>
              </a:path>
            </a:pathLst>
          </a:custGeom>
          <a:blipFill>
            <a:blip r:embed="rId5"/>
            <a:stretch>
              <a:fillRect l="-106520"/>
            </a:stretch>
          </a:blipFill>
        </p:spPr>
        <p:txBody>
          <a:bodyPr/>
          <a:lstStyle/>
          <a:p>
            <a:endParaRPr lang="en-US"/>
          </a:p>
        </p:txBody>
      </p:sp>
      <p:sp>
        <p:nvSpPr>
          <p:cNvPr id="6" name="Freeform 6"/>
          <p:cNvSpPr/>
          <p:nvPr/>
        </p:nvSpPr>
        <p:spPr>
          <a:xfrm>
            <a:off x="3336995" y="3067656"/>
            <a:ext cx="3066781" cy="2176557"/>
          </a:xfrm>
          <a:custGeom>
            <a:avLst/>
            <a:gdLst/>
            <a:ahLst/>
            <a:cxnLst/>
            <a:rect l="l" t="t" r="r" b="b"/>
            <a:pathLst>
              <a:path w="3066781" h="2176557">
                <a:moveTo>
                  <a:pt x="0" y="0"/>
                </a:moveTo>
                <a:lnTo>
                  <a:pt x="3066781" y="0"/>
                </a:lnTo>
                <a:lnTo>
                  <a:pt x="3066781" y="2176556"/>
                </a:lnTo>
                <a:lnTo>
                  <a:pt x="0" y="2176556"/>
                </a:lnTo>
                <a:lnTo>
                  <a:pt x="0" y="0"/>
                </a:lnTo>
                <a:close/>
              </a:path>
            </a:pathLst>
          </a:custGeom>
          <a:blipFill>
            <a:blip r:embed="rId6"/>
            <a:stretch>
              <a:fillRect l="-99390" t="-29847" b="-28182"/>
            </a:stretch>
          </a:blipFill>
        </p:spPr>
        <p:txBody>
          <a:bodyPr/>
          <a:lstStyle/>
          <a:p>
            <a:endParaRPr lang="en-US"/>
          </a:p>
        </p:txBody>
      </p:sp>
      <p:sp>
        <p:nvSpPr>
          <p:cNvPr id="7" name="Freeform 7"/>
          <p:cNvSpPr/>
          <p:nvPr/>
        </p:nvSpPr>
        <p:spPr>
          <a:xfrm>
            <a:off x="10893601" y="2208723"/>
            <a:ext cx="3178812" cy="3457032"/>
          </a:xfrm>
          <a:custGeom>
            <a:avLst/>
            <a:gdLst/>
            <a:ahLst/>
            <a:cxnLst/>
            <a:rect l="l" t="t" r="r" b="b"/>
            <a:pathLst>
              <a:path w="3178812" h="3457032">
                <a:moveTo>
                  <a:pt x="0" y="0"/>
                </a:moveTo>
                <a:lnTo>
                  <a:pt x="3178813" y="0"/>
                </a:lnTo>
                <a:lnTo>
                  <a:pt x="3178813" y="3457032"/>
                </a:lnTo>
                <a:lnTo>
                  <a:pt x="0" y="3457032"/>
                </a:lnTo>
                <a:lnTo>
                  <a:pt x="0" y="0"/>
                </a:lnTo>
                <a:close/>
              </a:path>
            </a:pathLst>
          </a:custGeom>
          <a:blipFill>
            <a:blip r:embed="rId7"/>
            <a:stretch>
              <a:fillRect l="-93337"/>
            </a:stretch>
          </a:blipFill>
        </p:spPr>
        <p:txBody>
          <a:bodyPr/>
          <a:lstStyle/>
          <a:p>
            <a:endParaRPr lang="en-US"/>
          </a:p>
        </p:txBody>
      </p:sp>
      <p:sp>
        <p:nvSpPr>
          <p:cNvPr id="8" name="Freeform 8"/>
          <p:cNvSpPr/>
          <p:nvPr/>
        </p:nvSpPr>
        <p:spPr>
          <a:xfrm>
            <a:off x="6901468" y="1978025"/>
            <a:ext cx="3262513" cy="3848293"/>
          </a:xfrm>
          <a:custGeom>
            <a:avLst/>
            <a:gdLst/>
            <a:ahLst/>
            <a:cxnLst/>
            <a:rect l="l" t="t" r="r" b="b"/>
            <a:pathLst>
              <a:path w="3262513" h="3848293">
                <a:moveTo>
                  <a:pt x="0" y="0"/>
                </a:moveTo>
                <a:lnTo>
                  <a:pt x="3262513" y="0"/>
                </a:lnTo>
                <a:lnTo>
                  <a:pt x="3262513" y="3848294"/>
                </a:lnTo>
                <a:lnTo>
                  <a:pt x="0" y="3848294"/>
                </a:lnTo>
                <a:lnTo>
                  <a:pt x="0" y="0"/>
                </a:lnTo>
                <a:close/>
              </a:path>
            </a:pathLst>
          </a:custGeom>
          <a:blipFill>
            <a:blip r:embed="rId8"/>
            <a:stretch>
              <a:fillRect l="-109697"/>
            </a:stretch>
          </a:blipFill>
        </p:spPr>
        <p:txBody>
          <a:bodyPr/>
          <a:lstStyle/>
          <a:p>
            <a:endParaRPr lang="en-US"/>
          </a:p>
        </p:txBody>
      </p:sp>
      <p:sp>
        <p:nvSpPr>
          <p:cNvPr id="9" name="Freeform 9"/>
          <p:cNvSpPr/>
          <p:nvPr/>
        </p:nvSpPr>
        <p:spPr>
          <a:xfrm>
            <a:off x="7173962" y="6047524"/>
            <a:ext cx="2717524" cy="2369934"/>
          </a:xfrm>
          <a:custGeom>
            <a:avLst/>
            <a:gdLst/>
            <a:ahLst/>
            <a:cxnLst/>
            <a:rect l="l" t="t" r="r" b="b"/>
            <a:pathLst>
              <a:path w="2717524" h="2369934">
                <a:moveTo>
                  <a:pt x="0" y="0"/>
                </a:moveTo>
                <a:lnTo>
                  <a:pt x="2717524" y="0"/>
                </a:lnTo>
                <a:lnTo>
                  <a:pt x="2717524" y="2369934"/>
                </a:lnTo>
                <a:lnTo>
                  <a:pt x="0" y="2369934"/>
                </a:lnTo>
                <a:lnTo>
                  <a:pt x="0" y="0"/>
                </a:lnTo>
                <a:close/>
              </a:path>
            </a:pathLst>
          </a:custGeom>
          <a:blipFill>
            <a:blip r:embed="rId9"/>
            <a:stretch>
              <a:fillRect l="-37811" t="-43777" r="-29116" b="-47632"/>
            </a:stretch>
          </a:blipFill>
        </p:spPr>
        <p:txBody>
          <a:bodyPr/>
          <a:lstStyle/>
          <a:p>
            <a:endParaRPr lang="en-US"/>
          </a:p>
        </p:txBody>
      </p:sp>
      <p:sp>
        <p:nvSpPr>
          <p:cNvPr id="10" name="Freeform 10"/>
          <p:cNvSpPr/>
          <p:nvPr/>
        </p:nvSpPr>
        <p:spPr>
          <a:xfrm>
            <a:off x="14836705" y="5896452"/>
            <a:ext cx="2813009" cy="2579806"/>
          </a:xfrm>
          <a:custGeom>
            <a:avLst/>
            <a:gdLst/>
            <a:ahLst/>
            <a:cxnLst/>
            <a:rect l="l" t="t" r="r" b="b"/>
            <a:pathLst>
              <a:path w="2813009" h="2579806">
                <a:moveTo>
                  <a:pt x="0" y="0"/>
                </a:moveTo>
                <a:lnTo>
                  <a:pt x="2813009" y="0"/>
                </a:lnTo>
                <a:lnTo>
                  <a:pt x="2813009" y="2579806"/>
                </a:lnTo>
                <a:lnTo>
                  <a:pt x="0" y="2579806"/>
                </a:lnTo>
                <a:lnTo>
                  <a:pt x="0" y="0"/>
                </a:lnTo>
                <a:close/>
              </a:path>
            </a:pathLst>
          </a:custGeom>
          <a:blipFill>
            <a:blip r:embed="rId10"/>
            <a:stretch>
              <a:fillRect l="-25358" t="-34906" r="-23406" b="-27305"/>
            </a:stretch>
          </a:blipFill>
        </p:spPr>
        <p:txBody>
          <a:bodyPr/>
          <a:lstStyle/>
          <a:p>
            <a:endParaRPr lang="en-US"/>
          </a:p>
        </p:txBody>
      </p:sp>
      <p:sp>
        <p:nvSpPr>
          <p:cNvPr id="11" name="Freeform 11"/>
          <p:cNvSpPr/>
          <p:nvPr/>
        </p:nvSpPr>
        <p:spPr>
          <a:xfrm>
            <a:off x="11072212" y="5896452"/>
            <a:ext cx="2583767" cy="2469441"/>
          </a:xfrm>
          <a:custGeom>
            <a:avLst/>
            <a:gdLst/>
            <a:ahLst/>
            <a:cxnLst/>
            <a:rect l="l" t="t" r="r" b="b"/>
            <a:pathLst>
              <a:path w="2583767" h="2469441">
                <a:moveTo>
                  <a:pt x="0" y="0"/>
                </a:moveTo>
                <a:lnTo>
                  <a:pt x="2583767" y="0"/>
                </a:lnTo>
                <a:lnTo>
                  <a:pt x="2583767" y="2469442"/>
                </a:lnTo>
                <a:lnTo>
                  <a:pt x="0" y="2469442"/>
                </a:lnTo>
                <a:lnTo>
                  <a:pt x="0" y="0"/>
                </a:lnTo>
                <a:close/>
              </a:path>
            </a:pathLst>
          </a:custGeom>
          <a:blipFill>
            <a:blip r:embed="rId11"/>
            <a:stretch>
              <a:fillRect l="-209498" t="-62531" r="-44833" b="-84429"/>
            </a:stretch>
          </a:blipFill>
        </p:spPr>
        <p:txBody>
          <a:bodyPr/>
          <a:lstStyle/>
          <a:p>
            <a:endParaRPr lang="en-US"/>
          </a:p>
        </p:txBody>
      </p:sp>
      <p:sp>
        <p:nvSpPr>
          <p:cNvPr id="12" name="TextBox 12"/>
          <p:cNvSpPr txBox="1"/>
          <p:nvPr/>
        </p:nvSpPr>
        <p:spPr>
          <a:xfrm>
            <a:off x="4038141" y="688435"/>
            <a:ext cx="11385410" cy="1301212"/>
          </a:xfrm>
          <a:prstGeom prst="rect">
            <a:avLst/>
          </a:prstGeom>
        </p:spPr>
        <p:txBody>
          <a:bodyPr lIns="0" tIns="0" rIns="0" bIns="0" rtlCol="0" anchor="t">
            <a:spAutoFit/>
          </a:bodyPr>
          <a:lstStyle/>
          <a:p>
            <a:pPr marL="0" lvl="0" indent="0" algn="l">
              <a:lnSpc>
                <a:spcPts val="10704"/>
              </a:lnSpc>
              <a:spcBef>
                <a:spcPct val="0"/>
              </a:spcBef>
            </a:pPr>
            <a:r>
              <a:rPr lang="en-US" sz="7646" b="1" spc="-152">
                <a:solidFill>
                  <a:srgbClr val="023B88"/>
                </a:solidFill>
                <a:latin typeface="Montserrat Bold"/>
                <a:ea typeface="Montserrat Bold"/>
                <a:cs typeface="Montserrat Bold"/>
                <a:sym typeface="Montserrat Bold"/>
              </a:rPr>
              <a:t>Odoo Modules Used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rcRect/>
          <a:stretch>
            <a:fillRect/>
          </a:stretch>
        </p:blipFill>
        <p:spPr>
          <a:xfrm>
            <a:off x="1355271" y="1678647"/>
            <a:ext cx="15577457" cy="8229600"/>
          </a:xfrm>
          <a:prstGeom prst="rect">
            <a:avLst/>
          </a:prstGeom>
        </p:spPr>
      </p:pic>
      <p:sp>
        <p:nvSpPr>
          <p:cNvPr id="3" name="TextBox 3"/>
          <p:cNvSpPr txBox="1"/>
          <p:nvPr/>
        </p:nvSpPr>
        <p:spPr>
          <a:xfrm>
            <a:off x="5982158" y="265795"/>
            <a:ext cx="6859686" cy="1103619"/>
          </a:xfrm>
          <a:prstGeom prst="rect">
            <a:avLst/>
          </a:prstGeom>
        </p:spPr>
        <p:txBody>
          <a:bodyPr lIns="0" tIns="0" rIns="0" bIns="0" rtlCol="0" anchor="t">
            <a:spAutoFit/>
          </a:bodyPr>
          <a:lstStyle/>
          <a:p>
            <a:pPr marL="0" lvl="0" indent="0" algn="l">
              <a:lnSpc>
                <a:spcPts val="9054"/>
              </a:lnSpc>
              <a:spcBef>
                <a:spcPct val="0"/>
              </a:spcBef>
            </a:pPr>
            <a:r>
              <a:rPr lang="en-US" sz="6467" b="1" spc="-129">
                <a:solidFill>
                  <a:srgbClr val="023B88"/>
                </a:solidFill>
                <a:latin typeface="Montserrat Bold"/>
                <a:ea typeface="Montserrat Bold"/>
                <a:cs typeface="Montserrat Bold"/>
                <a:sym typeface="Montserrat Bold"/>
              </a:rPr>
              <a:t>System Demo</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4131656" y="1153624"/>
            <a:ext cx="10024687" cy="1103619"/>
          </a:xfrm>
          <a:prstGeom prst="rect">
            <a:avLst/>
          </a:prstGeom>
        </p:spPr>
        <p:txBody>
          <a:bodyPr lIns="0" tIns="0" rIns="0" bIns="0" rtlCol="0" anchor="t">
            <a:spAutoFit/>
          </a:bodyPr>
          <a:lstStyle/>
          <a:p>
            <a:pPr marL="0" lvl="0" indent="0" algn="l">
              <a:lnSpc>
                <a:spcPts val="9054"/>
              </a:lnSpc>
              <a:spcBef>
                <a:spcPct val="0"/>
              </a:spcBef>
            </a:pPr>
            <a:r>
              <a:rPr lang="en-US" sz="6467" b="1" spc="-129">
                <a:solidFill>
                  <a:srgbClr val="023B88"/>
                </a:solidFill>
                <a:latin typeface="Montserrat Bold"/>
                <a:ea typeface="Montserrat Bold"/>
                <a:cs typeface="Montserrat Bold"/>
                <a:sym typeface="Montserrat Bold"/>
              </a:rPr>
              <a:t>Challenges &amp; Solutions</a:t>
            </a:r>
          </a:p>
        </p:txBody>
      </p:sp>
      <p:graphicFrame>
        <p:nvGraphicFramePr>
          <p:cNvPr id="4" name="Table 3">
            <a:extLst>
              <a:ext uri="{FF2B5EF4-FFF2-40B4-BE49-F238E27FC236}">
                <a16:creationId xmlns:a16="http://schemas.microsoft.com/office/drawing/2014/main" id="{2FA37AD8-8541-CDA2-5B07-B8C99E1B3302}"/>
              </a:ext>
            </a:extLst>
          </p:cNvPr>
          <p:cNvGraphicFramePr>
            <a:graphicFrameLocks noGrp="1"/>
          </p:cNvGraphicFramePr>
          <p:nvPr>
            <p:extLst>
              <p:ext uri="{D42A27DB-BD31-4B8C-83A1-F6EECF244321}">
                <p14:modId xmlns:p14="http://schemas.microsoft.com/office/powerpoint/2010/main" val="293821440"/>
              </p:ext>
            </p:extLst>
          </p:nvPr>
        </p:nvGraphicFramePr>
        <p:xfrm>
          <a:off x="2133600" y="3238500"/>
          <a:ext cx="14325600" cy="5029199"/>
        </p:xfrm>
        <a:graphic>
          <a:graphicData uri="http://schemas.openxmlformats.org/drawingml/2006/table">
            <a:tbl>
              <a:tblPr firstRow="1" firstCol="1" bandRow="1"/>
              <a:tblGrid>
                <a:gridCol w="7046646">
                  <a:extLst>
                    <a:ext uri="{9D8B030D-6E8A-4147-A177-3AD203B41FA5}">
                      <a16:colId xmlns:a16="http://schemas.microsoft.com/office/drawing/2014/main" val="2810661327"/>
                    </a:ext>
                  </a:extLst>
                </a:gridCol>
                <a:gridCol w="7278954">
                  <a:extLst>
                    <a:ext uri="{9D8B030D-6E8A-4147-A177-3AD203B41FA5}">
                      <a16:colId xmlns:a16="http://schemas.microsoft.com/office/drawing/2014/main" val="938047606"/>
                    </a:ext>
                  </a:extLst>
                </a:gridCol>
              </a:tblGrid>
              <a:tr h="613384">
                <a:tc>
                  <a:txBody>
                    <a:bodyPr/>
                    <a:lstStyle/>
                    <a:p>
                      <a:pPr marL="0" marR="0" algn="ctr" fontAlgn="t">
                        <a:spcAft>
                          <a:spcPts val="600"/>
                        </a:spcAft>
                        <a:buNone/>
                      </a:pPr>
                      <a:r>
                        <a:rPr lang="en-US" sz="2600" b="1" i="0" u="none" strike="noStrike" dirty="0">
                          <a:solidFill>
                            <a:srgbClr val="FFFFFF"/>
                          </a:solidFill>
                          <a:effectLst/>
                          <a:latin typeface="NewsGotT"/>
                          <a:ea typeface="Calibri" panose="020F0502020204030204" pitchFamily="34" charset="0"/>
                          <a:cs typeface="Times New Roman" panose="02020603050405020304" pitchFamily="18" charset="0"/>
                        </a:rPr>
                        <a:t>GCC Challenge</a:t>
                      </a:r>
                      <a:endParaRPr lang="en-US" sz="4200" b="0" i="0" u="none" strike="noStrike" dirty="0">
                        <a:effectLst/>
                        <a:latin typeface="Arial" panose="020B0604020202020204" pitchFamily="34" charset="0"/>
                      </a:endParaRPr>
                    </a:p>
                  </a:txBody>
                  <a:tcPr marL="160332" marR="160332" marT="22268" marB="0">
                    <a:lnL w="12700" cap="flat" cmpd="sng" algn="ctr">
                      <a:solidFill>
                        <a:srgbClr val="4472C4"/>
                      </a:solidFill>
                      <a:prstDash val="solid"/>
                      <a:round/>
                      <a:headEnd type="none" w="med" len="med"/>
                      <a:tailEnd type="none" w="med" len="med"/>
                    </a:lnL>
                    <a:lnR>
                      <a:noFill/>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solidFill>
                  </a:tcPr>
                </a:tc>
                <a:tc>
                  <a:txBody>
                    <a:bodyPr/>
                    <a:lstStyle/>
                    <a:p>
                      <a:pPr marL="0" marR="0" algn="ctr" fontAlgn="t">
                        <a:spcAft>
                          <a:spcPts val="600"/>
                        </a:spcAft>
                        <a:buNone/>
                      </a:pPr>
                      <a:r>
                        <a:rPr lang="en-US" sz="2600" b="1" i="0" u="none" strike="noStrike">
                          <a:solidFill>
                            <a:srgbClr val="FFFFFF"/>
                          </a:solidFill>
                          <a:effectLst/>
                          <a:latin typeface="NewsGotT"/>
                          <a:ea typeface="Calibri" panose="020F0502020204030204" pitchFamily="34" charset="0"/>
                          <a:cs typeface="Times New Roman" panose="02020603050405020304" pitchFamily="18" charset="0"/>
                        </a:rPr>
                        <a:t>GIC Improvement via Odoo</a:t>
                      </a:r>
                      <a:endParaRPr lang="en-US" sz="4200" b="0" i="0" u="none" strike="noStrike">
                        <a:effectLst/>
                        <a:latin typeface="Arial" panose="020B0604020202020204" pitchFamily="34" charset="0"/>
                      </a:endParaRPr>
                    </a:p>
                  </a:txBody>
                  <a:tcPr marL="160332" marR="160332" marT="22268" marB="0">
                    <a:lnL>
                      <a:noFill/>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4472C4"/>
                    </a:solidFill>
                  </a:tcPr>
                </a:tc>
                <a:extLst>
                  <a:ext uri="{0D108BD9-81ED-4DB2-BD59-A6C34878D82A}">
                    <a16:rowId xmlns:a16="http://schemas.microsoft.com/office/drawing/2014/main" val="1409561650"/>
                  </a:ext>
                </a:extLst>
              </a:tr>
              <a:tr h="1094470">
                <a:tc>
                  <a:txBody>
                    <a:bodyPr/>
                    <a:lstStyle/>
                    <a:p>
                      <a:pPr marL="0" marR="0" algn="ctr" fontAlgn="t">
                        <a:spcAft>
                          <a:spcPts val="600"/>
                        </a:spcAft>
                        <a:buNone/>
                      </a:pPr>
                      <a:r>
                        <a:rPr lang="en-US" sz="2600" b="0" i="0" u="none" strike="noStrike" dirty="0">
                          <a:solidFill>
                            <a:srgbClr val="000000"/>
                          </a:solidFill>
                          <a:effectLst/>
                          <a:latin typeface="NewsGotT"/>
                          <a:ea typeface="Calibri" panose="020F0502020204030204" pitchFamily="34" charset="0"/>
                          <a:cs typeface="Times New Roman" panose="02020603050405020304" pitchFamily="18" charset="0"/>
                        </a:rPr>
                        <a:t>Excel reliance for reporting</a:t>
                      </a:r>
                      <a:endParaRPr lang="en-US" sz="4200" b="0" i="0" u="none" strike="noStrike" dirty="0">
                        <a:effectLst/>
                        <a:latin typeface="Arial" panose="020B0604020202020204" pitchFamily="34" charset="0"/>
                      </a:endParaRPr>
                    </a:p>
                  </a:txBody>
                  <a:tcPr marL="160332" marR="160332" marT="22268" marB="0">
                    <a:lnL w="12700" cap="flat" cmpd="sng" algn="ctr">
                      <a:solidFill>
                        <a:srgbClr val="8EAADB"/>
                      </a:solidFill>
                      <a:prstDash val="solid"/>
                      <a:round/>
                      <a:headEnd type="none" w="med" len="med"/>
                      <a:tailEnd type="none" w="med" len="med"/>
                    </a:lnL>
                    <a:lnR w="12700" cap="flat" cmpd="sng" algn="ctr">
                      <a:solidFill>
                        <a:srgbClr val="8EAADB"/>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8EAADB"/>
                      </a:solidFill>
                      <a:prstDash val="solid"/>
                      <a:round/>
                      <a:headEnd type="none" w="med" len="med"/>
                      <a:tailEnd type="none" w="med" len="med"/>
                    </a:lnB>
                    <a:solidFill>
                      <a:srgbClr val="D9E2F3"/>
                    </a:solidFill>
                  </a:tcPr>
                </a:tc>
                <a:tc>
                  <a:txBody>
                    <a:bodyPr/>
                    <a:lstStyle/>
                    <a:p>
                      <a:pPr marL="0" marR="0" algn="ctr" fontAlgn="t">
                        <a:spcAft>
                          <a:spcPts val="600"/>
                        </a:spcAft>
                        <a:buNone/>
                      </a:pPr>
                      <a:r>
                        <a:rPr lang="en-US" sz="2600" b="0" i="0" u="none" strike="noStrike">
                          <a:solidFill>
                            <a:srgbClr val="000000"/>
                          </a:solidFill>
                          <a:effectLst/>
                          <a:latin typeface="NewsGotT"/>
                          <a:ea typeface="Calibri" panose="020F0502020204030204" pitchFamily="34" charset="0"/>
                          <a:cs typeface="Times New Roman" panose="02020603050405020304" pitchFamily="18" charset="0"/>
                        </a:rPr>
                        <a:t>Real-time dashboards and integrated reports</a:t>
                      </a:r>
                      <a:endParaRPr lang="en-US" sz="4200" b="0" i="0" u="none" strike="noStrike">
                        <a:effectLst/>
                        <a:latin typeface="Arial" panose="020B0604020202020204" pitchFamily="34" charset="0"/>
                      </a:endParaRPr>
                    </a:p>
                  </a:txBody>
                  <a:tcPr marL="160332" marR="160332" marT="22268" marB="0">
                    <a:lnL w="12700" cap="flat" cmpd="sng" algn="ctr">
                      <a:solidFill>
                        <a:srgbClr val="8EAADB"/>
                      </a:solidFill>
                      <a:prstDash val="solid"/>
                      <a:round/>
                      <a:headEnd type="none" w="med" len="med"/>
                      <a:tailEnd type="none" w="med" len="med"/>
                    </a:lnL>
                    <a:lnR w="12700" cap="flat" cmpd="sng" algn="ctr">
                      <a:solidFill>
                        <a:srgbClr val="8EAADB"/>
                      </a:solidFill>
                      <a:prstDash val="solid"/>
                      <a:round/>
                      <a:headEnd type="none" w="med" len="med"/>
                      <a:tailEnd type="none" w="med" len="med"/>
                    </a:lnR>
                    <a:lnT w="12700" cap="flat" cmpd="sng" algn="ctr">
                      <a:solidFill>
                        <a:srgbClr val="4472C4"/>
                      </a:solidFill>
                      <a:prstDash val="solid"/>
                      <a:round/>
                      <a:headEnd type="none" w="med" len="med"/>
                      <a:tailEnd type="none" w="med" len="med"/>
                    </a:lnT>
                    <a:lnB w="12700" cap="flat" cmpd="sng" algn="ctr">
                      <a:solidFill>
                        <a:srgbClr val="8EAADB"/>
                      </a:solidFill>
                      <a:prstDash val="solid"/>
                      <a:round/>
                      <a:headEnd type="none" w="med" len="med"/>
                      <a:tailEnd type="none" w="med" len="med"/>
                    </a:lnB>
                    <a:solidFill>
                      <a:srgbClr val="D9E2F3"/>
                    </a:solidFill>
                  </a:tcPr>
                </a:tc>
                <a:extLst>
                  <a:ext uri="{0D108BD9-81ED-4DB2-BD59-A6C34878D82A}">
                    <a16:rowId xmlns:a16="http://schemas.microsoft.com/office/drawing/2014/main" val="2221576130"/>
                  </a:ext>
                </a:extLst>
              </a:tr>
              <a:tr h="1094470">
                <a:tc>
                  <a:txBody>
                    <a:bodyPr/>
                    <a:lstStyle/>
                    <a:p>
                      <a:pPr marL="0" marR="0" algn="ctr" fontAlgn="t">
                        <a:spcAft>
                          <a:spcPts val="600"/>
                        </a:spcAft>
                        <a:buNone/>
                      </a:pPr>
                      <a:r>
                        <a:rPr lang="en-US" sz="2600" b="0" i="0" u="none" strike="noStrike" dirty="0">
                          <a:effectLst/>
                          <a:latin typeface="NewsGotT"/>
                          <a:ea typeface="Calibri" panose="020F0502020204030204" pitchFamily="34" charset="0"/>
                          <a:cs typeface="Times New Roman" panose="02020603050405020304" pitchFamily="18" charset="0"/>
                        </a:rPr>
                        <a:t>Delayed interdepartmental communication</a:t>
                      </a:r>
                      <a:endParaRPr lang="en-US" sz="4200" b="0" i="0" u="none" strike="noStrike" dirty="0">
                        <a:effectLst/>
                        <a:latin typeface="Arial" panose="020B0604020202020204" pitchFamily="34" charset="0"/>
                      </a:endParaRPr>
                    </a:p>
                  </a:txBody>
                  <a:tcPr marL="160332" marR="160332" marT="22268" marB="0">
                    <a:lnL w="12700" cap="flat" cmpd="sng" algn="ctr">
                      <a:solidFill>
                        <a:srgbClr val="8EAADB"/>
                      </a:solidFill>
                      <a:prstDash val="solid"/>
                      <a:round/>
                      <a:headEnd type="none" w="med" len="med"/>
                      <a:tailEnd type="none" w="med" len="med"/>
                    </a:lnL>
                    <a:lnR w="12700" cap="flat" cmpd="sng" algn="ctr">
                      <a:solidFill>
                        <a:srgbClr val="8EAADB"/>
                      </a:solidFill>
                      <a:prstDash val="solid"/>
                      <a:round/>
                      <a:headEnd type="none" w="med" len="med"/>
                      <a:tailEnd type="none" w="med" len="med"/>
                    </a:lnR>
                    <a:lnT w="12700" cap="flat" cmpd="sng" algn="ctr">
                      <a:solidFill>
                        <a:srgbClr val="8EAADB"/>
                      </a:solidFill>
                      <a:prstDash val="solid"/>
                      <a:round/>
                      <a:headEnd type="none" w="med" len="med"/>
                      <a:tailEnd type="none" w="med" len="med"/>
                    </a:lnT>
                    <a:lnB w="12700" cap="flat" cmpd="sng" algn="ctr">
                      <a:solidFill>
                        <a:srgbClr val="8EAADB"/>
                      </a:solidFill>
                      <a:prstDash val="solid"/>
                      <a:round/>
                      <a:headEnd type="none" w="med" len="med"/>
                      <a:tailEnd type="none" w="med" len="med"/>
                    </a:lnB>
                    <a:noFill/>
                  </a:tcPr>
                </a:tc>
                <a:tc>
                  <a:txBody>
                    <a:bodyPr/>
                    <a:lstStyle/>
                    <a:p>
                      <a:pPr marL="0" marR="0" algn="ctr" fontAlgn="t">
                        <a:spcAft>
                          <a:spcPts val="600"/>
                        </a:spcAft>
                        <a:buNone/>
                      </a:pPr>
                      <a:r>
                        <a:rPr lang="en-US" sz="2600" b="0" i="0" u="none" strike="noStrike">
                          <a:effectLst/>
                          <a:latin typeface="NewsGotT"/>
                          <a:ea typeface="Calibri" panose="020F0502020204030204" pitchFamily="34" charset="0"/>
                          <a:cs typeface="Times New Roman" panose="02020603050405020304" pitchFamily="18" charset="0"/>
                        </a:rPr>
                        <a:t>Seamless module integration</a:t>
                      </a:r>
                      <a:endParaRPr lang="en-US" sz="4200" b="0" i="0" u="none" strike="noStrike">
                        <a:effectLst/>
                        <a:latin typeface="Arial" panose="020B0604020202020204" pitchFamily="34" charset="0"/>
                      </a:endParaRPr>
                    </a:p>
                  </a:txBody>
                  <a:tcPr marL="160332" marR="160332" marT="22268" marB="0">
                    <a:lnL w="12700" cap="flat" cmpd="sng" algn="ctr">
                      <a:solidFill>
                        <a:srgbClr val="8EAADB"/>
                      </a:solidFill>
                      <a:prstDash val="solid"/>
                      <a:round/>
                      <a:headEnd type="none" w="med" len="med"/>
                      <a:tailEnd type="none" w="med" len="med"/>
                    </a:lnL>
                    <a:lnR w="12700" cap="flat" cmpd="sng" algn="ctr">
                      <a:solidFill>
                        <a:srgbClr val="8EAADB"/>
                      </a:solidFill>
                      <a:prstDash val="solid"/>
                      <a:round/>
                      <a:headEnd type="none" w="med" len="med"/>
                      <a:tailEnd type="none" w="med" len="med"/>
                    </a:lnR>
                    <a:lnT w="12700" cap="flat" cmpd="sng" algn="ctr">
                      <a:solidFill>
                        <a:srgbClr val="8EAADB"/>
                      </a:solidFill>
                      <a:prstDash val="solid"/>
                      <a:round/>
                      <a:headEnd type="none" w="med" len="med"/>
                      <a:tailEnd type="none" w="med" len="med"/>
                    </a:lnT>
                    <a:lnB w="12700" cap="flat" cmpd="sng" algn="ctr">
                      <a:solidFill>
                        <a:srgbClr val="8EAADB"/>
                      </a:solidFill>
                      <a:prstDash val="solid"/>
                      <a:round/>
                      <a:headEnd type="none" w="med" len="med"/>
                      <a:tailEnd type="none" w="med" len="med"/>
                    </a:lnB>
                    <a:noFill/>
                  </a:tcPr>
                </a:tc>
                <a:extLst>
                  <a:ext uri="{0D108BD9-81ED-4DB2-BD59-A6C34878D82A}">
                    <a16:rowId xmlns:a16="http://schemas.microsoft.com/office/drawing/2014/main" val="1376975940"/>
                  </a:ext>
                </a:extLst>
              </a:tr>
              <a:tr h="1000107">
                <a:tc>
                  <a:txBody>
                    <a:bodyPr/>
                    <a:lstStyle/>
                    <a:p>
                      <a:pPr marL="0" marR="0" algn="ctr" fontAlgn="t">
                        <a:spcAft>
                          <a:spcPts val="600"/>
                        </a:spcAft>
                        <a:buNone/>
                      </a:pPr>
                      <a:r>
                        <a:rPr lang="en-US" sz="2600" b="0" i="0" u="none" strike="noStrike" dirty="0">
                          <a:solidFill>
                            <a:srgbClr val="000000"/>
                          </a:solidFill>
                          <a:effectLst/>
                          <a:latin typeface="NewsGotT"/>
                          <a:ea typeface="Calibri" panose="020F0502020204030204" pitchFamily="34" charset="0"/>
                          <a:cs typeface="Times New Roman" panose="02020603050405020304" pitchFamily="18" charset="0"/>
                        </a:rPr>
                        <a:t>Manual project tracking</a:t>
                      </a:r>
                      <a:endParaRPr lang="en-US" sz="4200" b="0" i="0" u="none" strike="noStrike" dirty="0">
                        <a:effectLst/>
                        <a:latin typeface="Arial" panose="020B0604020202020204" pitchFamily="34" charset="0"/>
                      </a:endParaRPr>
                    </a:p>
                  </a:txBody>
                  <a:tcPr marL="160332" marR="160332" marT="22268" marB="0">
                    <a:lnL w="12700" cap="flat" cmpd="sng" algn="ctr">
                      <a:solidFill>
                        <a:srgbClr val="8EAADB"/>
                      </a:solidFill>
                      <a:prstDash val="solid"/>
                      <a:round/>
                      <a:headEnd type="none" w="med" len="med"/>
                      <a:tailEnd type="none" w="med" len="med"/>
                    </a:lnL>
                    <a:lnR w="12700" cap="flat" cmpd="sng" algn="ctr">
                      <a:solidFill>
                        <a:srgbClr val="8EAADB"/>
                      </a:solidFill>
                      <a:prstDash val="solid"/>
                      <a:round/>
                      <a:headEnd type="none" w="med" len="med"/>
                      <a:tailEnd type="none" w="med" len="med"/>
                    </a:lnR>
                    <a:lnT w="12700" cap="flat" cmpd="sng" algn="ctr">
                      <a:solidFill>
                        <a:srgbClr val="8EAADB"/>
                      </a:solidFill>
                      <a:prstDash val="solid"/>
                      <a:round/>
                      <a:headEnd type="none" w="med" len="med"/>
                      <a:tailEnd type="none" w="med" len="med"/>
                    </a:lnT>
                    <a:lnB w="12700" cap="flat" cmpd="sng" algn="ctr">
                      <a:solidFill>
                        <a:srgbClr val="8EAADB"/>
                      </a:solidFill>
                      <a:prstDash val="solid"/>
                      <a:round/>
                      <a:headEnd type="none" w="med" len="med"/>
                      <a:tailEnd type="none" w="med" len="med"/>
                    </a:lnB>
                    <a:solidFill>
                      <a:srgbClr val="D9E2F3"/>
                    </a:solidFill>
                  </a:tcPr>
                </a:tc>
                <a:tc>
                  <a:txBody>
                    <a:bodyPr/>
                    <a:lstStyle/>
                    <a:p>
                      <a:pPr marL="0" marR="0" algn="ctr" fontAlgn="t">
                        <a:spcAft>
                          <a:spcPts val="600"/>
                        </a:spcAft>
                        <a:buNone/>
                      </a:pPr>
                      <a:r>
                        <a:rPr lang="en-US" sz="2600" b="0" i="0" u="none" strike="noStrike" dirty="0">
                          <a:solidFill>
                            <a:srgbClr val="000000"/>
                          </a:solidFill>
                          <a:effectLst/>
                          <a:latin typeface="NewsGotT"/>
                          <a:ea typeface="Calibri" panose="020F0502020204030204" pitchFamily="34" charset="0"/>
                          <a:cs typeface="Times New Roman" panose="02020603050405020304" pitchFamily="18" charset="0"/>
                        </a:rPr>
                        <a:t>Digital project and timesheet modules</a:t>
                      </a:r>
                      <a:endParaRPr lang="en-US" sz="4200" b="0" i="0" u="none" strike="noStrike" dirty="0">
                        <a:effectLst/>
                        <a:latin typeface="Arial" panose="020B0604020202020204" pitchFamily="34" charset="0"/>
                      </a:endParaRPr>
                    </a:p>
                  </a:txBody>
                  <a:tcPr marL="160332" marR="160332" marT="22268" marB="0">
                    <a:lnL w="12700" cap="flat" cmpd="sng" algn="ctr">
                      <a:solidFill>
                        <a:srgbClr val="8EAADB"/>
                      </a:solidFill>
                      <a:prstDash val="solid"/>
                      <a:round/>
                      <a:headEnd type="none" w="med" len="med"/>
                      <a:tailEnd type="none" w="med" len="med"/>
                    </a:lnL>
                    <a:lnR w="12700" cap="flat" cmpd="sng" algn="ctr">
                      <a:solidFill>
                        <a:srgbClr val="8EAADB"/>
                      </a:solidFill>
                      <a:prstDash val="solid"/>
                      <a:round/>
                      <a:headEnd type="none" w="med" len="med"/>
                      <a:tailEnd type="none" w="med" len="med"/>
                    </a:lnR>
                    <a:lnT w="12700" cap="flat" cmpd="sng" algn="ctr">
                      <a:solidFill>
                        <a:srgbClr val="8EAADB"/>
                      </a:solidFill>
                      <a:prstDash val="solid"/>
                      <a:round/>
                      <a:headEnd type="none" w="med" len="med"/>
                      <a:tailEnd type="none" w="med" len="med"/>
                    </a:lnT>
                    <a:lnB w="12700" cap="flat" cmpd="sng" algn="ctr">
                      <a:solidFill>
                        <a:srgbClr val="8EAADB"/>
                      </a:solidFill>
                      <a:prstDash val="solid"/>
                      <a:round/>
                      <a:headEnd type="none" w="med" len="med"/>
                      <a:tailEnd type="none" w="med" len="med"/>
                    </a:lnB>
                    <a:solidFill>
                      <a:srgbClr val="D9E2F3"/>
                    </a:solidFill>
                  </a:tcPr>
                </a:tc>
                <a:extLst>
                  <a:ext uri="{0D108BD9-81ED-4DB2-BD59-A6C34878D82A}">
                    <a16:rowId xmlns:a16="http://schemas.microsoft.com/office/drawing/2014/main" val="1778831190"/>
                  </a:ext>
                </a:extLst>
              </a:tr>
              <a:tr h="613384">
                <a:tc>
                  <a:txBody>
                    <a:bodyPr/>
                    <a:lstStyle/>
                    <a:p>
                      <a:pPr marL="0" marR="0" algn="ctr" fontAlgn="t">
                        <a:spcAft>
                          <a:spcPts val="600"/>
                        </a:spcAft>
                        <a:buNone/>
                      </a:pPr>
                      <a:r>
                        <a:rPr lang="en-US" sz="2600" b="0" i="0" u="none" strike="noStrike" dirty="0">
                          <a:effectLst/>
                          <a:latin typeface="NewsGotT"/>
                          <a:ea typeface="Calibri" panose="020F0502020204030204" pitchFamily="34" charset="0"/>
                          <a:cs typeface="Times New Roman" panose="02020603050405020304" pitchFamily="18" charset="0"/>
                        </a:rPr>
                        <a:t>Complex and expensive ERP</a:t>
                      </a:r>
                      <a:endParaRPr lang="en-US" sz="4200" b="0" i="0" u="none" strike="noStrike" dirty="0">
                        <a:effectLst/>
                        <a:latin typeface="Arial" panose="020B0604020202020204" pitchFamily="34" charset="0"/>
                      </a:endParaRPr>
                    </a:p>
                  </a:txBody>
                  <a:tcPr marL="160332" marR="160332" marT="22268" marB="0">
                    <a:lnL w="12700" cap="flat" cmpd="sng" algn="ctr">
                      <a:solidFill>
                        <a:srgbClr val="8EAADB"/>
                      </a:solidFill>
                      <a:prstDash val="solid"/>
                      <a:round/>
                      <a:headEnd type="none" w="med" len="med"/>
                      <a:tailEnd type="none" w="med" len="med"/>
                    </a:lnL>
                    <a:lnR w="12700" cap="flat" cmpd="sng" algn="ctr">
                      <a:solidFill>
                        <a:srgbClr val="8EAADB"/>
                      </a:solidFill>
                      <a:prstDash val="solid"/>
                      <a:round/>
                      <a:headEnd type="none" w="med" len="med"/>
                      <a:tailEnd type="none" w="med" len="med"/>
                    </a:lnR>
                    <a:lnT w="12700" cap="flat" cmpd="sng" algn="ctr">
                      <a:solidFill>
                        <a:srgbClr val="8EAADB"/>
                      </a:solidFill>
                      <a:prstDash val="solid"/>
                      <a:round/>
                      <a:headEnd type="none" w="med" len="med"/>
                      <a:tailEnd type="none" w="med" len="med"/>
                    </a:lnT>
                    <a:lnB w="12700" cap="flat" cmpd="sng" algn="ctr">
                      <a:solidFill>
                        <a:srgbClr val="8EAADB"/>
                      </a:solidFill>
                      <a:prstDash val="solid"/>
                      <a:round/>
                      <a:headEnd type="none" w="med" len="med"/>
                      <a:tailEnd type="none" w="med" len="med"/>
                    </a:lnB>
                    <a:noFill/>
                  </a:tcPr>
                </a:tc>
                <a:tc>
                  <a:txBody>
                    <a:bodyPr/>
                    <a:lstStyle/>
                    <a:p>
                      <a:pPr marL="0" marR="0" algn="ctr" fontAlgn="t">
                        <a:spcAft>
                          <a:spcPts val="600"/>
                        </a:spcAft>
                        <a:buNone/>
                      </a:pPr>
                      <a:r>
                        <a:rPr lang="en-US" sz="2600" b="0" i="0" u="none" strike="noStrike" dirty="0">
                          <a:effectLst/>
                          <a:latin typeface="NewsGotT"/>
                          <a:ea typeface="Calibri" panose="020F0502020204030204" pitchFamily="34" charset="0"/>
                          <a:cs typeface="Times New Roman" panose="02020603050405020304" pitchFamily="18" charset="0"/>
                        </a:rPr>
                        <a:t>User-friendly, low-cost Odoo setup</a:t>
                      </a:r>
                      <a:endParaRPr lang="en-US" sz="4200" b="0" i="0" u="none" strike="noStrike" dirty="0">
                        <a:effectLst/>
                        <a:latin typeface="Arial" panose="020B0604020202020204" pitchFamily="34" charset="0"/>
                      </a:endParaRPr>
                    </a:p>
                  </a:txBody>
                  <a:tcPr marL="160332" marR="160332" marT="22268" marB="0">
                    <a:lnL w="12700" cap="flat" cmpd="sng" algn="ctr">
                      <a:solidFill>
                        <a:srgbClr val="8EAADB"/>
                      </a:solidFill>
                      <a:prstDash val="solid"/>
                      <a:round/>
                      <a:headEnd type="none" w="med" len="med"/>
                      <a:tailEnd type="none" w="med" len="med"/>
                    </a:lnL>
                    <a:lnR w="12700" cap="flat" cmpd="sng" algn="ctr">
                      <a:solidFill>
                        <a:srgbClr val="8EAADB"/>
                      </a:solidFill>
                      <a:prstDash val="solid"/>
                      <a:round/>
                      <a:headEnd type="none" w="med" len="med"/>
                      <a:tailEnd type="none" w="med" len="med"/>
                    </a:lnR>
                    <a:lnT w="12700" cap="flat" cmpd="sng" algn="ctr">
                      <a:solidFill>
                        <a:srgbClr val="8EAADB"/>
                      </a:solidFill>
                      <a:prstDash val="solid"/>
                      <a:round/>
                      <a:headEnd type="none" w="med" len="med"/>
                      <a:tailEnd type="none" w="med" len="med"/>
                    </a:lnT>
                    <a:lnB w="12700" cap="flat" cmpd="sng" algn="ctr">
                      <a:solidFill>
                        <a:srgbClr val="8EAADB"/>
                      </a:solidFill>
                      <a:prstDash val="solid"/>
                      <a:round/>
                      <a:headEnd type="none" w="med" len="med"/>
                      <a:tailEnd type="none" w="med" len="med"/>
                    </a:lnB>
                    <a:noFill/>
                  </a:tcPr>
                </a:tc>
                <a:extLst>
                  <a:ext uri="{0D108BD9-81ED-4DB2-BD59-A6C34878D82A}">
                    <a16:rowId xmlns:a16="http://schemas.microsoft.com/office/drawing/2014/main" val="2339463331"/>
                  </a:ext>
                </a:extLst>
              </a:tr>
              <a:tr h="613384">
                <a:tc>
                  <a:txBody>
                    <a:bodyPr/>
                    <a:lstStyle/>
                    <a:p>
                      <a:pPr marL="0" marR="0" algn="ctr" fontAlgn="t">
                        <a:spcAft>
                          <a:spcPts val="600"/>
                        </a:spcAft>
                        <a:buNone/>
                      </a:pPr>
                      <a:r>
                        <a:rPr lang="en-US" sz="2600" b="0" i="0" u="none" strike="noStrike" dirty="0">
                          <a:solidFill>
                            <a:srgbClr val="000000"/>
                          </a:solidFill>
                          <a:effectLst/>
                          <a:latin typeface="NewsGotT"/>
                          <a:ea typeface="Calibri" panose="020F0502020204030204" pitchFamily="34" charset="0"/>
                          <a:cs typeface="Times New Roman" panose="02020603050405020304" pitchFamily="18" charset="0"/>
                        </a:rPr>
                        <a:t>Manual equipment logs</a:t>
                      </a:r>
                      <a:endParaRPr lang="en-US" sz="4200" b="0" i="0" u="none" strike="noStrike" dirty="0">
                        <a:effectLst/>
                        <a:latin typeface="Arial" panose="020B0604020202020204" pitchFamily="34" charset="0"/>
                      </a:endParaRPr>
                    </a:p>
                  </a:txBody>
                  <a:tcPr marL="160332" marR="160332" marT="22268" marB="0">
                    <a:lnL w="12700" cap="flat" cmpd="sng" algn="ctr">
                      <a:solidFill>
                        <a:srgbClr val="8EAADB"/>
                      </a:solidFill>
                      <a:prstDash val="solid"/>
                      <a:round/>
                      <a:headEnd type="none" w="med" len="med"/>
                      <a:tailEnd type="none" w="med" len="med"/>
                    </a:lnL>
                    <a:lnR w="12700" cap="flat" cmpd="sng" algn="ctr">
                      <a:solidFill>
                        <a:srgbClr val="8EAADB"/>
                      </a:solidFill>
                      <a:prstDash val="solid"/>
                      <a:round/>
                      <a:headEnd type="none" w="med" len="med"/>
                      <a:tailEnd type="none" w="med" len="med"/>
                    </a:lnR>
                    <a:lnT w="12700" cap="flat" cmpd="sng" algn="ctr">
                      <a:solidFill>
                        <a:srgbClr val="8EAADB"/>
                      </a:solidFill>
                      <a:prstDash val="solid"/>
                      <a:round/>
                      <a:headEnd type="none" w="med" len="med"/>
                      <a:tailEnd type="none" w="med" len="med"/>
                    </a:lnT>
                    <a:lnB w="12700" cap="flat" cmpd="sng" algn="ctr">
                      <a:solidFill>
                        <a:srgbClr val="8EAADB"/>
                      </a:solidFill>
                      <a:prstDash val="solid"/>
                      <a:round/>
                      <a:headEnd type="none" w="med" len="med"/>
                      <a:tailEnd type="none" w="med" len="med"/>
                    </a:lnB>
                    <a:solidFill>
                      <a:srgbClr val="D9E2F3"/>
                    </a:solidFill>
                  </a:tcPr>
                </a:tc>
                <a:tc>
                  <a:txBody>
                    <a:bodyPr/>
                    <a:lstStyle/>
                    <a:p>
                      <a:pPr marL="0" marR="0" algn="ctr" fontAlgn="t">
                        <a:spcAft>
                          <a:spcPts val="600"/>
                        </a:spcAft>
                        <a:buNone/>
                      </a:pPr>
                      <a:r>
                        <a:rPr lang="en-US" sz="2600" b="0" i="0" u="none" strike="noStrike" dirty="0">
                          <a:solidFill>
                            <a:srgbClr val="000000"/>
                          </a:solidFill>
                          <a:effectLst/>
                          <a:latin typeface="NewsGotT"/>
                          <a:ea typeface="Calibri" panose="020F0502020204030204" pitchFamily="34" charset="0"/>
                          <a:cs typeface="Times New Roman" panose="02020603050405020304" pitchFamily="18" charset="0"/>
                        </a:rPr>
                        <a:t>Automated maintenance tracking</a:t>
                      </a:r>
                      <a:endParaRPr lang="en-US" sz="4200" b="0" i="0" u="none" strike="noStrike" dirty="0">
                        <a:effectLst/>
                        <a:latin typeface="Arial" panose="020B0604020202020204" pitchFamily="34" charset="0"/>
                      </a:endParaRPr>
                    </a:p>
                  </a:txBody>
                  <a:tcPr marL="160332" marR="160332" marT="22268" marB="0">
                    <a:lnL w="12700" cap="flat" cmpd="sng" algn="ctr">
                      <a:solidFill>
                        <a:srgbClr val="8EAADB"/>
                      </a:solidFill>
                      <a:prstDash val="solid"/>
                      <a:round/>
                      <a:headEnd type="none" w="med" len="med"/>
                      <a:tailEnd type="none" w="med" len="med"/>
                    </a:lnL>
                    <a:lnR w="12700" cap="flat" cmpd="sng" algn="ctr">
                      <a:solidFill>
                        <a:srgbClr val="8EAADB"/>
                      </a:solidFill>
                      <a:prstDash val="solid"/>
                      <a:round/>
                      <a:headEnd type="none" w="med" len="med"/>
                      <a:tailEnd type="none" w="med" len="med"/>
                    </a:lnR>
                    <a:lnT w="12700" cap="flat" cmpd="sng" algn="ctr">
                      <a:solidFill>
                        <a:srgbClr val="8EAADB"/>
                      </a:solidFill>
                      <a:prstDash val="solid"/>
                      <a:round/>
                      <a:headEnd type="none" w="med" len="med"/>
                      <a:tailEnd type="none" w="med" len="med"/>
                    </a:lnT>
                    <a:lnB w="12700" cap="flat" cmpd="sng" algn="ctr">
                      <a:solidFill>
                        <a:srgbClr val="8EAADB"/>
                      </a:solidFill>
                      <a:prstDash val="solid"/>
                      <a:round/>
                      <a:headEnd type="none" w="med" len="med"/>
                      <a:tailEnd type="none" w="med" len="med"/>
                    </a:lnB>
                    <a:solidFill>
                      <a:srgbClr val="D9E2F3"/>
                    </a:solidFill>
                  </a:tcPr>
                </a:tc>
                <a:extLst>
                  <a:ext uri="{0D108BD9-81ED-4DB2-BD59-A6C34878D82A}">
                    <a16:rowId xmlns:a16="http://schemas.microsoft.com/office/drawing/2014/main" val="244595830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479408" y="904875"/>
            <a:ext cx="3329184" cy="1103619"/>
          </a:xfrm>
          <a:prstGeom prst="rect">
            <a:avLst/>
          </a:prstGeom>
        </p:spPr>
        <p:txBody>
          <a:bodyPr lIns="0" tIns="0" rIns="0" bIns="0" rtlCol="0" anchor="t">
            <a:spAutoFit/>
          </a:bodyPr>
          <a:lstStyle/>
          <a:p>
            <a:pPr marL="0" lvl="0" indent="0" algn="l">
              <a:lnSpc>
                <a:spcPts val="9054"/>
              </a:lnSpc>
              <a:spcBef>
                <a:spcPct val="0"/>
              </a:spcBef>
            </a:pPr>
            <a:r>
              <a:rPr lang="en-US" sz="6467" b="1" spc="-129">
                <a:solidFill>
                  <a:srgbClr val="023B88"/>
                </a:solidFill>
                <a:latin typeface="Montserrat Bold"/>
                <a:ea typeface="Montserrat Bold"/>
                <a:cs typeface="Montserrat Bold"/>
                <a:sym typeface="Montserrat Bold"/>
              </a:rPr>
              <a:t>Results </a:t>
            </a:r>
          </a:p>
        </p:txBody>
      </p:sp>
      <p:grpSp>
        <p:nvGrpSpPr>
          <p:cNvPr id="3" name="Group 3"/>
          <p:cNvGrpSpPr/>
          <p:nvPr/>
        </p:nvGrpSpPr>
        <p:grpSpPr>
          <a:xfrm>
            <a:off x="919937" y="3548285"/>
            <a:ext cx="7096490" cy="1320242"/>
            <a:chOff x="0" y="0"/>
            <a:chExt cx="1642310" cy="305538"/>
          </a:xfrm>
        </p:grpSpPr>
        <p:sp>
          <p:nvSpPr>
            <p:cNvPr id="4" name="Freeform 4"/>
            <p:cNvSpPr/>
            <p:nvPr/>
          </p:nvSpPr>
          <p:spPr>
            <a:xfrm>
              <a:off x="0" y="0"/>
              <a:ext cx="1642310" cy="305538"/>
            </a:xfrm>
            <a:custGeom>
              <a:avLst/>
              <a:gdLst/>
              <a:ahLst/>
              <a:cxnLst/>
              <a:rect l="l" t="t" r="r" b="b"/>
              <a:pathLst>
                <a:path w="1642310" h="305538">
                  <a:moveTo>
                    <a:pt x="34910" y="0"/>
                  </a:moveTo>
                  <a:lnTo>
                    <a:pt x="1607400" y="0"/>
                  </a:lnTo>
                  <a:cubicBezTo>
                    <a:pt x="1626681" y="0"/>
                    <a:pt x="1642310" y="15630"/>
                    <a:pt x="1642310" y="34910"/>
                  </a:cubicBezTo>
                  <a:lnTo>
                    <a:pt x="1642310" y="270627"/>
                  </a:lnTo>
                  <a:cubicBezTo>
                    <a:pt x="1642310" y="279886"/>
                    <a:pt x="1638632" y="288766"/>
                    <a:pt x="1632085" y="295313"/>
                  </a:cubicBezTo>
                  <a:cubicBezTo>
                    <a:pt x="1625538" y="301860"/>
                    <a:pt x="1616659" y="305538"/>
                    <a:pt x="1607400" y="305538"/>
                  </a:cubicBezTo>
                  <a:lnTo>
                    <a:pt x="34910" y="305538"/>
                  </a:lnTo>
                  <a:cubicBezTo>
                    <a:pt x="15630" y="305538"/>
                    <a:pt x="0" y="289908"/>
                    <a:pt x="0" y="270627"/>
                  </a:cubicBezTo>
                  <a:lnTo>
                    <a:pt x="0" y="34910"/>
                  </a:lnTo>
                  <a:cubicBezTo>
                    <a:pt x="0" y="15630"/>
                    <a:pt x="15630" y="0"/>
                    <a:pt x="34910" y="0"/>
                  </a:cubicBezTo>
                  <a:close/>
                </a:path>
              </a:pathLst>
            </a:custGeom>
            <a:solidFill>
              <a:srgbClr val="FFFFFF"/>
            </a:solidFill>
            <a:ln w="104775" cap="rnd">
              <a:solidFill>
                <a:srgbClr val="023B88"/>
              </a:solidFill>
              <a:prstDash val="solid"/>
              <a:round/>
            </a:ln>
          </p:spPr>
          <p:txBody>
            <a:bodyPr/>
            <a:lstStyle/>
            <a:p>
              <a:endParaRPr lang="en-US"/>
            </a:p>
          </p:txBody>
        </p:sp>
        <p:sp>
          <p:nvSpPr>
            <p:cNvPr id="5" name="TextBox 5"/>
            <p:cNvSpPr txBox="1"/>
            <p:nvPr/>
          </p:nvSpPr>
          <p:spPr>
            <a:xfrm>
              <a:off x="0" y="-57150"/>
              <a:ext cx="1642310" cy="362688"/>
            </a:xfrm>
            <a:prstGeom prst="rect">
              <a:avLst/>
            </a:prstGeom>
          </p:spPr>
          <p:txBody>
            <a:bodyPr lIns="50800" tIns="50800" rIns="50800" bIns="50800" rtlCol="0" anchor="ctr"/>
            <a:lstStyle/>
            <a:p>
              <a:pPr marL="0" lvl="0" indent="0" algn="ctr">
                <a:lnSpc>
                  <a:spcPts val="3876"/>
                </a:lnSpc>
                <a:spcBef>
                  <a:spcPct val="0"/>
                </a:spcBef>
              </a:pPr>
              <a:r>
                <a:rPr lang="en-US" sz="2768" b="1">
                  <a:solidFill>
                    <a:srgbClr val="000000"/>
                  </a:solidFill>
                  <a:latin typeface="Montserrat Bold"/>
                  <a:ea typeface="Montserrat Bold"/>
                  <a:cs typeface="Montserrat Bold"/>
                  <a:sym typeface="Montserrat Bold"/>
                </a:rPr>
                <a:t>Reduced manual work</a:t>
              </a:r>
            </a:p>
          </p:txBody>
        </p:sp>
      </p:grpSp>
      <p:grpSp>
        <p:nvGrpSpPr>
          <p:cNvPr id="6" name="Group 6"/>
          <p:cNvGrpSpPr/>
          <p:nvPr/>
        </p:nvGrpSpPr>
        <p:grpSpPr>
          <a:xfrm>
            <a:off x="10271573" y="3548285"/>
            <a:ext cx="7096490" cy="1320242"/>
            <a:chOff x="0" y="0"/>
            <a:chExt cx="1642310" cy="305538"/>
          </a:xfrm>
        </p:grpSpPr>
        <p:sp>
          <p:nvSpPr>
            <p:cNvPr id="7" name="Freeform 7"/>
            <p:cNvSpPr/>
            <p:nvPr/>
          </p:nvSpPr>
          <p:spPr>
            <a:xfrm>
              <a:off x="0" y="0"/>
              <a:ext cx="1642310" cy="305538"/>
            </a:xfrm>
            <a:custGeom>
              <a:avLst/>
              <a:gdLst/>
              <a:ahLst/>
              <a:cxnLst/>
              <a:rect l="l" t="t" r="r" b="b"/>
              <a:pathLst>
                <a:path w="1642310" h="305538">
                  <a:moveTo>
                    <a:pt x="34910" y="0"/>
                  </a:moveTo>
                  <a:lnTo>
                    <a:pt x="1607400" y="0"/>
                  </a:lnTo>
                  <a:cubicBezTo>
                    <a:pt x="1626681" y="0"/>
                    <a:pt x="1642310" y="15630"/>
                    <a:pt x="1642310" y="34910"/>
                  </a:cubicBezTo>
                  <a:lnTo>
                    <a:pt x="1642310" y="270627"/>
                  </a:lnTo>
                  <a:cubicBezTo>
                    <a:pt x="1642310" y="279886"/>
                    <a:pt x="1638632" y="288766"/>
                    <a:pt x="1632085" y="295313"/>
                  </a:cubicBezTo>
                  <a:cubicBezTo>
                    <a:pt x="1625538" y="301860"/>
                    <a:pt x="1616659" y="305538"/>
                    <a:pt x="1607400" y="305538"/>
                  </a:cubicBezTo>
                  <a:lnTo>
                    <a:pt x="34910" y="305538"/>
                  </a:lnTo>
                  <a:cubicBezTo>
                    <a:pt x="15630" y="305538"/>
                    <a:pt x="0" y="289908"/>
                    <a:pt x="0" y="270627"/>
                  </a:cubicBezTo>
                  <a:lnTo>
                    <a:pt x="0" y="34910"/>
                  </a:lnTo>
                  <a:cubicBezTo>
                    <a:pt x="0" y="15630"/>
                    <a:pt x="15630" y="0"/>
                    <a:pt x="34910" y="0"/>
                  </a:cubicBezTo>
                  <a:close/>
                </a:path>
              </a:pathLst>
            </a:custGeom>
            <a:solidFill>
              <a:srgbClr val="FFFFFF"/>
            </a:solidFill>
            <a:ln w="104775" cap="rnd">
              <a:solidFill>
                <a:srgbClr val="023B88"/>
              </a:solidFill>
              <a:prstDash val="solid"/>
              <a:round/>
            </a:ln>
          </p:spPr>
          <p:txBody>
            <a:bodyPr/>
            <a:lstStyle/>
            <a:p>
              <a:endParaRPr lang="en-US"/>
            </a:p>
          </p:txBody>
        </p:sp>
        <p:sp>
          <p:nvSpPr>
            <p:cNvPr id="8" name="TextBox 8"/>
            <p:cNvSpPr txBox="1"/>
            <p:nvPr/>
          </p:nvSpPr>
          <p:spPr>
            <a:xfrm>
              <a:off x="0" y="-57150"/>
              <a:ext cx="1642310" cy="362688"/>
            </a:xfrm>
            <a:prstGeom prst="rect">
              <a:avLst/>
            </a:prstGeom>
          </p:spPr>
          <p:txBody>
            <a:bodyPr lIns="50800" tIns="50800" rIns="50800" bIns="50800" rtlCol="0" anchor="ctr"/>
            <a:lstStyle/>
            <a:p>
              <a:pPr marL="0" lvl="0" indent="0" algn="ctr">
                <a:lnSpc>
                  <a:spcPts val="3876"/>
                </a:lnSpc>
                <a:spcBef>
                  <a:spcPct val="0"/>
                </a:spcBef>
              </a:pPr>
              <a:r>
                <a:rPr lang="en-US" sz="2768" b="1">
                  <a:solidFill>
                    <a:srgbClr val="000000"/>
                  </a:solidFill>
                  <a:latin typeface="Montserrat Bold"/>
                  <a:ea typeface="Montserrat Bold"/>
                  <a:cs typeface="Montserrat Bold"/>
                  <a:sym typeface="Montserrat Bold"/>
                </a:rPr>
                <a:t>User engagement</a:t>
              </a:r>
            </a:p>
          </p:txBody>
        </p:sp>
      </p:grpSp>
      <p:grpSp>
        <p:nvGrpSpPr>
          <p:cNvPr id="9" name="Group 9"/>
          <p:cNvGrpSpPr/>
          <p:nvPr/>
        </p:nvGrpSpPr>
        <p:grpSpPr>
          <a:xfrm>
            <a:off x="919937" y="6015742"/>
            <a:ext cx="7096490" cy="1320242"/>
            <a:chOff x="0" y="0"/>
            <a:chExt cx="1642310" cy="305538"/>
          </a:xfrm>
        </p:grpSpPr>
        <p:sp>
          <p:nvSpPr>
            <p:cNvPr id="10" name="Freeform 10"/>
            <p:cNvSpPr/>
            <p:nvPr/>
          </p:nvSpPr>
          <p:spPr>
            <a:xfrm>
              <a:off x="0" y="0"/>
              <a:ext cx="1642310" cy="305538"/>
            </a:xfrm>
            <a:custGeom>
              <a:avLst/>
              <a:gdLst/>
              <a:ahLst/>
              <a:cxnLst/>
              <a:rect l="l" t="t" r="r" b="b"/>
              <a:pathLst>
                <a:path w="1642310" h="305538">
                  <a:moveTo>
                    <a:pt x="34910" y="0"/>
                  </a:moveTo>
                  <a:lnTo>
                    <a:pt x="1607400" y="0"/>
                  </a:lnTo>
                  <a:cubicBezTo>
                    <a:pt x="1626681" y="0"/>
                    <a:pt x="1642310" y="15630"/>
                    <a:pt x="1642310" y="34910"/>
                  </a:cubicBezTo>
                  <a:lnTo>
                    <a:pt x="1642310" y="270627"/>
                  </a:lnTo>
                  <a:cubicBezTo>
                    <a:pt x="1642310" y="279886"/>
                    <a:pt x="1638632" y="288766"/>
                    <a:pt x="1632085" y="295313"/>
                  </a:cubicBezTo>
                  <a:cubicBezTo>
                    <a:pt x="1625538" y="301860"/>
                    <a:pt x="1616659" y="305538"/>
                    <a:pt x="1607400" y="305538"/>
                  </a:cubicBezTo>
                  <a:lnTo>
                    <a:pt x="34910" y="305538"/>
                  </a:lnTo>
                  <a:cubicBezTo>
                    <a:pt x="15630" y="305538"/>
                    <a:pt x="0" y="289908"/>
                    <a:pt x="0" y="270627"/>
                  </a:cubicBezTo>
                  <a:lnTo>
                    <a:pt x="0" y="34910"/>
                  </a:lnTo>
                  <a:cubicBezTo>
                    <a:pt x="0" y="15630"/>
                    <a:pt x="15630" y="0"/>
                    <a:pt x="34910" y="0"/>
                  </a:cubicBezTo>
                  <a:close/>
                </a:path>
              </a:pathLst>
            </a:custGeom>
            <a:solidFill>
              <a:srgbClr val="FFFFFF"/>
            </a:solidFill>
            <a:ln w="104775" cap="rnd">
              <a:solidFill>
                <a:srgbClr val="023B88"/>
              </a:solidFill>
              <a:prstDash val="solid"/>
              <a:round/>
            </a:ln>
          </p:spPr>
          <p:txBody>
            <a:bodyPr/>
            <a:lstStyle/>
            <a:p>
              <a:endParaRPr lang="en-US"/>
            </a:p>
          </p:txBody>
        </p:sp>
        <p:sp>
          <p:nvSpPr>
            <p:cNvPr id="11" name="TextBox 11"/>
            <p:cNvSpPr txBox="1"/>
            <p:nvPr/>
          </p:nvSpPr>
          <p:spPr>
            <a:xfrm>
              <a:off x="0" y="-57150"/>
              <a:ext cx="1642310" cy="362688"/>
            </a:xfrm>
            <a:prstGeom prst="rect">
              <a:avLst/>
            </a:prstGeom>
          </p:spPr>
          <p:txBody>
            <a:bodyPr lIns="50800" tIns="50800" rIns="50800" bIns="50800" rtlCol="0" anchor="ctr"/>
            <a:lstStyle/>
            <a:p>
              <a:pPr marL="0" lvl="0" indent="0" algn="ctr">
                <a:lnSpc>
                  <a:spcPts val="3876"/>
                </a:lnSpc>
                <a:spcBef>
                  <a:spcPct val="0"/>
                </a:spcBef>
              </a:pPr>
              <a:r>
                <a:rPr lang="en-US" sz="2768" b="1">
                  <a:solidFill>
                    <a:srgbClr val="000000"/>
                  </a:solidFill>
                  <a:latin typeface="Montserrat Bold"/>
                  <a:ea typeface="Montserrat Bold"/>
                  <a:cs typeface="Montserrat Bold"/>
                  <a:sym typeface="Montserrat Bold"/>
                </a:rPr>
                <a:t>Improved integration</a:t>
              </a:r>
            </a:p>
          </p:txBody>
        </p:sp>
      </p:grpSp>
      <p:grpSp>
        <p:nvGrpSpPr>
          <p:cNvPr id="12" name="Group 12"/>
          <p:cNvGrpSpPr/>
          <p:nvPr/>
        </p:nvGrpSpPr>
        <p:grpSpPr>
          <a:xfrm>
            <a:off x="10271573" y="6179292"/>
            <a:ext cx="7096490" cy="1320242"/>
            <a:chOff x="0" y="0"/>
            <a:chExt cx="1642310" cy="305538"/>
          </a:xfrm>
        </p:grpSpPr>
        <p:sp>
          <p:nvSpPr>
            <p:cNvPr id="13" name="Freeform 13"/>
            <p:cNvSpPr/>
            <p:nvPr/>
          </p:nvSpPr>
          <p:spPr>
            <a:xfrm>
              <a:off x="0" y="0"/>
              <a:ext cx="1642310" cy="305538"/>
            </a:xfrm>
            <a:custGeom>
              <a:avLst/>
              <a:gdLst/>
              <a:ahLst/>
              <a:cxnLst/>
              <a:rect l="l" t="t" r="r" b="b"/>
              <a:pathLst>
                <a:path w="1642310" h="305538">
                  <a:moveTo>
                    <a:pt x="34910" y="0"/>
                  </a:moveTo>
                  <a:lnTo>
                    <a:pt x="1607400" y="0"/>
                  </a:lnTo>
                  <a:cubicBezTo>
                    <a:pt x="1626681" y="0"/>
                    <a:pt x="1642310" y="15630"/>
                    <a:pt x="1642310" y="34910"/>
                  </a:cubicBezTo>
                  <a:lnTo>
                    <a:pt x="1642310" y="270627"/>
                  </a:lnTo>
                  <a:cubicBezTo>
                    <a:pt x="1642310" y="279886"/>
                    <a:pt x="1638632" y="288766"/>
                    <a:pt x="1632085" y="295313"/>
                  </a:cubicBezTo>
                  <a:cubicBezTo>
                    <a:pt x="1625538" y="301860"/>
                    <a:pt x="1616659" y="305538"/>
                    <a:pt x="1607400" y="305538"/>
                  </a:cubicBezTo>
                  <a:lnTo>
                    <a:pt x="34910" y="305538"/>
                  </a:lnTo>
                  <a:cubicBezTo>
                    <a:pt x="15630" y="305538"/>
                    <a:pt x="0" y="289908"/>
                    <a:pt x="0" y="270627"/>
                  </a:cubicBezTo>
                  <a:lnTo>
                    <a:pt x="0" y="34910"/>
                  </a:lnTo>
                  <a:cubicBezTo>
                    <a:pt x="0" y="15630"/>
                    <a:pt x="15630" y="0"/>
                    <a:pt x="34910" y="0"/>
                  </a:cubicBezTo>
                  <a:close/>
                </a:path>
              </a:pathLst>
            </a:custGeom>
            <a:solidFill>
              <a:srgbClr val="FFFFFF"/>
            </a:solidFill>
            <a:ln w="104775" cap="rnd">
              <a:solidFill>
                <a:srgbClr val="023B88"/>
              </a:solidFill>
              <a:prstDash val="solid"/>
              <a:round/>
            </a:ln>
          </p:spPr>
          <p:txBody>
            <a:bodyPr/>
            <a:lstStyle/>
            <a:p>
              <a:endParaRPr lang="en-US"/>
            </a:p>
          </p:txBody>
        </p:sp>
        <p:sp>
          <p:nvSpPr>
            <p:cNvPr id="14" name="TextBox 14"/>
            <p:cNvSpPr txBox="1"/>
            <p:nvPr/>
          </p:nvSpPr>
          <p:spPr>
            <a:xfrm>
              <a:off x="0" y="-57150"/>
              <a:ext cx="1642310" cy="362688"/>
            </a:xfrm>
            <a:prstGeom prst="rect">
              <a:avLst/>
            </a:prstGeom>
          </p:spPr>
          <p:txBody>
            <a:bodyPr lIns="50800" tIns="50800" rIns="50800" bIns="50800" rtlCol="0" anchor="ctr"/>
            <a:lstStyle/>
            <a:p>
              <a:pPr marL="0" lvl="0" indent="0" algn="ctr">
                <a:lnSpc>
                  <a:spcPts val="3876"/>
                </a:lnSpc>
                <a:spcBef>
                  <a:spcPct val="0"/>
                </a:spcBef>
              </a:pPr>
              <a:r>
                <a:rPr lang="en-US" sz="2768" b="1">
                  <a:solidFill>
                    <a:srgbClr val="000000"/>
                  </a:solidFill>
                  <a:latin typeface="Montserrat Bold"/>
                  <a:ea typeface="Montserrat Bold"/>
                  <a:cs typeface="Montserrat Bold"/>
                  <a:sym typeface="Montserrat Bold"/>
                </a:rPr>
                <a:t>Cost efficiency</a:t>
              </a:r>
            </a:p>
          </p:txBody>
        </p:sp>
      </p:grpSp>
      <p:grpSp>
        <p:nvGrpSpPr>
          <p:cNvPr id="15" name="Group 15"/>
          <p:cNvGrpSpPr/>
          <p:nvPr/>
        </p:nvGrpSpPr>
        <p:grpSpPr>
          <a:xfrm>
            <a:off x="5704518" y="8166284"/>
            <a:ext cx="7096490" cy="1320242"/>
            <a:chOff x="0" y="0"/>
            <a:chExt cx="1642310" cy="305538"/>
          </a:xfrm>
        </p:grpSpPr>
        <p:sp>
          <p:nvSpPr>
            <p:cNvPr id="16" name="Freeform 16"/>
            <p:cNvSpPr/>
            <p:nvPr/>
          </p:nvSpPr>
          <p:spPr>
            <a:xfrm>
              <a:off x="0" y="0"/>
              <a:ext cx="1642310" cy="305538"/>
            </a:xfrm>
            <a:custGeom>
              <a:avLst/>
              <a:gdLst/>
              <a:ahLst/>
              <a:cxnLst/>
              <a:rect l="l" t="t" r="r" b="b"/>
              <a:pathLst>
                <a:path w="1642310" h="305538">
                  <a:moveTo>
                    <a:pt x="34910" y="0"/>
                  </a:moveTo>
                  <a:lnTo>
                    <a:pt x="1607400" y="0"/>
                  </a:lnTo>
                  <a:cubicBezTo>
                    <a:pt x="1626681" y="0"/>
                    <a:pt x="1642310" y="15630"/>
                    <a:pt x="1642310" y="34910"/>
                  </a:cubicBezTo>
                  <a:lnTo>
                    <a:pt x="1642310" y="270627"/>
                  </a:lnTo>
                  <a:cubicBezTo>
                    <a:pt x="1642310" y="279886"/>
                    <a:pt x="1638632" y="288766"/>
                    <a:pt x="1632085" y="295313"/>
                  </a:cubicBezTo>
                  <a:cubicBezTo>
                    <a:pt x="1625538" y="301860"/>
                    <a:pt x="1616659" y="305538"/>
                    <a:pt x="1607400" y="305538"/>
                  </a:cubicBezTo>
                  <a:lnTo>
                    <a:pt x="34910" y="305538"/>
                  </a:lnTo>
                  <a:cubicBezTo>
                    <a:pt x="15630" y="305538"/>
                    <a:pt x="0" y="289908"/>
                    <a:pt x="0" y="270627"/>
                  </a:cubicBezTo>
                  <a:lnTo>
                    <a:pt x="0" y="34910"/>
                  </a:lnTo>
                  <a:cubicBezTo>
                    <a:pt x="0" y="15630"/>
                    <a:pt x="15630" y="0"/>
                    <a:pt x="34910" y="0"/>
                  </a:cubicBezTo>
                  <a:close/>
                </a:path>
              </a:pathLst>
            </a:custGeom>
            <a:solidFill>
              <a:srgbClr val="FFFFFF"/>
            </a:solidFill>
            <a:ln w="104775" cap="rnd">
              <a:solidFill>
                <a:srgbClr val="023B88"/>
              </a:solidFill>
              <a:prstDash val="solid"/>
              <a:round/>
            </a:ln>
          </p:spPr>
          <p:txBody>
            <a:bodyPr/>
            <a:lstStyle/>
            <a:p>
              <a:endParaRPr lang="en-US"/>
            </a:p>
          </p:txBody>
        </p:sp>
        <p:sp>
          <p:nvSpPr>
            <p:cNvPr id="17" name="TextBox 17"/>
            <p:cNvSpPr txBox="1"/>
            <p:nvPr/>
          </p:nvSpPr>
          <p:spPr>
            <a:xfrm>
              <a:off x="0" y="-57150"/>
              <a:ext cx="1642310" cy="362688"/>
            </a:xfrm>
            <a:prstGeom prst="rect">
              <a:avLst/>
            </a:prstGeom>
          </p:spPr>
          <p:txBody>
            <a:bodyPr lIns="50800" tIns="50800" rIns="50800" bIns="50800" rtlCol="0" anchor="ctr"/>
            <a:lstStyle/>
            <a:p>
              <a:pPr marL="0" lvl="0" indent="0" algn="ctr">
                <a:lnSpc>
                  <a:spcPts val="3876"/>
                </a:lnSpc>
                <a:spcBef>
                  <a:spcPct val="0"/>
                </a:spcBef>
              </a:pPr>
              <a:r>
                <a:rPr lang="en-US" sz="2768" b="1">
                  <a:solidFill>
                    <a:srgbClr val="000000"/>
                  </a:solidFill>
                  <a:latin typeface="Montserrat Bold"/>
                  <a:ea typeface="Montserrat Bold"/>
                  <a:cs typeface="Montserrat Bold"/>
                  <a:sym typeface="Montserrat Bold"/>
                </a:rPr>
                <a:t>Operational visibility</a:t>
              </a:r>
            </a:p>
          </p:txBody>
        </p:sp>
      </p:grpSp>
      <p:sp>
        <p:nvSpPr>
          <p:cNvPr id="18" name="TextBox 18"/>
          <p:cNvSpPr txBox="1"/>
          <p:nvPr/>
        </p:nvSpPr>
        <p:spPr>
          <a:xfrm>
            <a:off x="4468182" y="2087047"/>
            <a:ext cx="11490960" cy="794488"/>
          </a:xfrm>
          <a:prstGeom prst="rect">
            <a:avLst/>
          </a:prstGeom>
        </p:spPr>
        <p:txBody>
          <a:bodyPr lIns="0" tIns="0" rIns="0" bIns="0" rtlCol="0" anchor="t">
            <a:spAutoFit/>
          </a:bodyPr>
          <a:lstStyle/>
          <a:p>
            <a:pPr marL="0" lvl="0" indent="0" algn="l">
              <a:lnSpc>
                <a:spcPts val="6495"/>
              </a:lnSpc>
              <a:spcBef>
                <a:spcPct val="0"/>
              </a:spcBef>
            </a:pPr>
            <a:r>
              <a:rPr lang="en-US" sz="4639" spc="-92">
                <a:solidFill>
                  <a:srgbClr val="023B88"/>
                </a:solidFill>
                <a:latin typeface="Montserrat Classic"/>
                <a:ea typeface="Montserrat Classic"/>
                <a:cs typeface="Montserrat Classic"/>
                <a:sym typeface="Montserrat Classic"/>
              </a:rPr>
              <a:t>Improvements made by using odoo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6946" y="904875"/>
            <a:ext cx="6527403" cy="1103619"/>
          </a:xfrm>
          <a:prstGeom prst="rect">
            <a:avLst/>
          </a:prstGeom>
        </p:spPr>
        <p:txBody>
          <a:bodyPr lIns="0" tIns="0" rIns="0" bIns="0" rtlCol="0" anchor="t">
            <a:spAutoFit/>
          </a:bodyPr>
          <a:lstStyle/>
          <a:p>
            <a:pPr marL="0" lvl="0" indent="0" algn="l">
              <a:lnSpc>
                <a:spcPts val="9054"/>
              </a:lnSpc>
              <a:spcBef>
                <a:spcPct val="0"/>
              </a:spcBef>
            </a:pPr>
            <a:r>
              <a:rPr lang="en-US" sz="6467" b="1" spc="-129">
                <a:solidFill>
                  <a:srgbClr val="023B88"/>
                </a:solidFill>
                <a:latin typeface="Montserrat Bold"/>
                <a:ea typeface="Montserrat Bold"/>
                <a:cs typeface="Montserrat Bold"/>
                <a:sym typeface="Montserrat Bold"/>
              </a:rPr>
              <a:t>Conclusion</a:t>
            </a:r>
          </a:p>
        </p:txBody>
      </p:sp>
      <p:grpSp>
        <p:nvGrpSpPr>
          <p:cNvPr id="3" name="Group 3"/>
          <p:cNvGrpSpPr/>
          <p:nvPr/>
        </p:nvGrpSpPr>
        <p:grpSpPr>
          <a:xfrm>
            <a:off x="880437" y="3112866"/>
            <a:ext cx="16898824" cy="1320242"/>
            <a:chOff x="0" y="0"/>
            <a:chExt cx="3910823" cy="305538"/>
          </a:xfrm>
        </p:grpSpPr>
        <p:sp>
          <p:nvSpPr>
            <p:cNvPr id="4" name="Freeform 4"/>
            <p:cNvSpPr/>
            <p:nvPr/>
          </p:nvSpPr>
          <p:spPr>
            <a:xfrm>
              <a:off x="0" y="0"/>
              <a:ext cx="3910823" cy="305538"/>
            </a:xfrm>
            <a:custGeom>
              <a:avLst/>
              <a:gdLst/>
              <a:ahLst/>
              <a:cxnLst/>
              <a:rect l="l" t="t" r="r" b="b"/>
              <a:pathLst>
                <a:path w="3910823" h="305538">
                  <a:moveTo>
                    <a:pt x="14660" y="0"/>
                  </a:moveTo>
                  <a:lnTo>
                    <a:pt x="3896162" y="0"/>
                  </a:lnTo>
                  <a:cubicBezTo>
                    <a:pt x="3900050" y="0"/>
                    <a:pt x="3903779" y="1545"/>
                    <a:pt x="3906529" y="4294"/>
                  </a:cubicBezTo>
                  <a:cubicBezTo>
                    <a:pt x="3909278" y="7043"/>
                    <a:pt x="3910823" y="10772"/>
                    <a:pt x="3910823" y="14660"/>
                  </a:cubicBezTo>
                  <a:lnTo>
                    <a:pt x="3910823" y="290878"/>
                  </a:lnTo>
                  <a:cubicBezTo>
                    <a:pt x="3910823" y="294766"/>
                    <a:pt x="3909278" y="298495"/>
                    <a:pt x="3906529" y="301244"/>
                  </a:cubicBezTo>
                  <a:cubicBezTo>
                    <a:pt x="3903779" y="303993"/>
                    <a:pt x="3900050" y="305538"/>
                    <a:pt x="3896162" y="305538"/>
                  </a:cubicBezTo>
                  <a:lnTo>
                    <a:pt x="14660" y="305538"/>
                  </a:lnTo>
                  <a:cubicBezTo>
                    <a:pt x="10772" y="305538"/>
                    <a:pt x="7043" y="303993"/>
                    <a:pt x="4294" y="301244"/>
                  </a:cubicBezTo>
                  <a:cubicBezTo>
                    <a:pt x="1545" y="298495"/>
                    <a:pt x="0" y="294766"/>
                    <a:pt x="0" y="290878"/>
                  </a:cubicBezTo>
                  <a:lnTo>
                    <a:pt x="0" y="14660"/>
                  </a:lnTo>
                  <a:cubicBezTo>
                    <a:pt x="0" y="10772"/>
                    <a:pt x="1545" y="7043"/>
                    <a:pt x="4294" y="4294"/>
                  </a:cubicBezTo>
                  <a:cubicBezTo>
                    <a:pt x="7043" y="1545"/>
                    <a:pt x="10772" y="0"/>
                    <a:pt x="14660" y="0"/>
                  </a:cubicBezTo>
                  <a:close/>
                </a:path>
              </a:pathLst>
            </a:custGeom>
            <a:solidFill>
              <a:srgbClr val="FFFFFF"/>
            </a:solidFill>
            <a:ln w="104775" cap="rnd">
              <a:solidFill>
                <a:srgbClr val="023B88"/>
              </a:solidFill>
              <a:prstDash val="solid"/>
              <a:round/>
            </a:ln>
          </p:spPr>
          <p:txBody>
            <a:bodyPr/>
            <a:lstStyle/>
            <a:p>
              <a:endParaRPr lang="en-US"/>
            </a:p>
          </p:txBody>
        </p:sp>
        <p:sp>
          <p:nvSpPr>
            <p:cNvPr id="5" name="TextBox 5"/>
            <p:cNvSpPr txBox="1"/>
            <p:nvPr/>
          </p:nvSpPr>
          <p:spPr>
            <a:xfrm>
              <a:off x="0" y="-47625"/>
              <a:ext cx="3910823" cy="353163"/>
            </a:xfrm>
            <a:prstGeom prst="rect">
              <a:avLst/>
            </a:prstGeom>
          </p:spPr>
          <p:txBody>
            <a:bodyPr lIns="50800" tIns="50800" rIns="50800" bIns="50800" rtlCol="0" anchor="ctr"/>
            <a:lstStyle/>
            <a:p>
              <a:pPr marL="0" lvl="0" indent="0" algn="ctr">
                <a:lnSpc>
                  <a:spcPts val="3456"/>
                </a:lnSpc>
                <a:spcBef>
                  <a:spcPct val="0"/>
                </a:spcBef>
              </a:pPr>
              <a:r>
                <a:rPr lang="en-US" sz="2468" b="1">
                  <a:solidFill>
                    <a:srgbClr val="000000"/>
                  </a:solidFill>
                  <a:latin typeface="Montserrat Bold"/>
                  <a:ea typeface="Montserrat Bold"/>
                  <a:cs typeface="Montserrat Bold"/>
                  <a:sym typeface="Montserrat Bold"/>
                </a:rPr>
                <a:t>Implementing Odoo ERP enabled GIC to overcome key operational challenges inherited from GCC.</a:t>
              </a:r>
            </a:p>
          </p:txBody>
        </p:sp>
      </p:grpSp>
      <p:grpSp>
        <p:nvGrpSpPr>
          <p:cNvPr id="6" name="Group 6"/>
          <p:cNvGrpSpPr/>
          <p:nvPr/>
        </p:nvGrpSpPr>
        <p:grpSpPr>
          <a:xfrm>
            <a:off x="880437" y="5536807"/>
            <a:ext cx="16898824" cy="1320242"/>
            <a:chOff x="0" y="0"/>
            <a:chExt cx="3910823" cy="305538"/>
          </a:xfrm>
        </p:grpSpPr>
        <p:sp>
          <p:nvSpPr>
            <p:cNvPr id="7" name="Freeform 7"/>
            <p:cNvSpPr/>
            <p:nvPr/>
          </p:nvSpPr>
          <p:spPr>
            <a:xfrm>
              <a:off x="0" y="0"/>
              <a:ext cx="3910823" cy="305538"/>
            </a:xfrm>
            <a:custGeom>
              <a:avLst/>
              <a:gdLst/>
              <a:ahLst/>
              <a:cxnLst/>
              <a:rect l="l" t="t" r="r" b="b"/>
              <a:pathLst>
                <a:path w="3910823" h="305538">
                  <a:moveTo>
                    <a:pt x="14660" y="0"/>
                  </a:moveTo>
                  <a:lnTo>
                    <a:pt x="3896162" y="0"/>
                  </a:lnTo>
                  <a:cubicBezTo>
                    <a:pt x="3900050" y="0"/>
                    <a:pt x="3903779" y="1545"/>
                    <a:pt x="3906529" y="4294"/>
                  </a:cubicBezTo>
                  <a:cubicBezTo>
                    <a:pt x="3909278" y="7043"/>
                    <a:pt x="3910823" y="10772"/>
                    <a:pt x="3910823" y="14660"/>
                  </a:cubicBezTo>
                  <a:lnTo>
                    <a:pt x="3910823" y="290878"/>
                  </a:lnTo>
                  <a:cubicBezTo>
                    <a:pt x="3910823" y="294766"/>
                    <a:pt x="3909278" y="298495"/>
                    <a:pt x="3906529" y="301244"/>
                  </a:cubicBezTo>
                  <a:cubicBezTo>
                    <a:pt x="3903779" y="303993"/>
                    <a:pt x="3900050" y="305538"/>
                    <a:pt x="3896162" y="305538"/>
                  </a:cubicBezTo>
                  <a:lnTo>
                    <a:pt x="14660" y="305538"/>
                  </a:lnTo>
                  <a:cubicBezTo>
                    <a:pt x="10772" y="305538"/>
                    <a:pt x="7043" y="303993"/>
                    <a:pt x="4294" y="301244"/>
                  </a:cubicBezTo>
                  <a:cubicBezTo>
                    <a:pt x="1545" y="298495"/>
                    <a:pt x="0" y="294766"/>
                    <a:pt x="0" y="290878"/>
                  </a:cubicBezTo>
                  <a:lnTo>
                    <a:pt x="0" y="14660"/>
                  </a:lnTo>
                  <a:cubicBezTo>
                    <a:pt x="0" y="10772"/>
                    <a:pt x="1545" y="7043"/>
                    <a:pt x="4294" y="4294"/>
                  </a:cubicBezTo>
                  <a:cubicBezTo>
                    <a:pt x="7043" y="1545"/>
                    <a:pt x="10772" y="0"/>
                    <a:pt x="14660" y="0"/>
                  </a:cubicBezTo>
                  <a:close/>
                </a:path>
              </a:pathLst>
            </a:custGeom>
            <a:solidFill>
              <a:srgbClr val="FFFFFF"/>
            </a:solidFill>
            <a:ln w="104775" cap="rnd">
              <a:solidFill>
                <a:srgbClr val="023B88"/>
              </a:solidFill>
              <a:prstDash val="solid"/>
              <a:round/>
            </a:ln>
          </p:spPr>
          <p:txBody>
            <a:bodyPr/>
            <a:lstStyle/>
            <a:p>
              <a:endParaRPr lang="en-US"/>
            </a:p>
          </p:txBody>
        </p:sp>
        <p:sp>
          <p:nvSpPr>
            <p:cNvPr id="8" name="TextBox 8"/>
            <p:cNvSpPr txBox="1"/>
            <p:nvPr/>
          </p:nvSpPr>
          <p:spPr>
            <a:xfrm>
              <a:off x="0" y="-47625"/>
              <a:ext cx="3910823" cy="353163"/>
            </a:xfrm>
            <a:prstGeom prst="rect">
              <a:avLst/>
            </a:prstGeom>
          </p:spPr>
          <p:txBody>
            <a:bodyPr lIns="50800" tIns="50800" rIns="50800" bIns="50800" rtlCol="0" anchor="ctr"/>
            <a:lstStyle/>
            <a:p>
              <a:pPr marL="0" lvl="0" indent="0" algn="ctr">
                <a:lnSpc>
                  <a:spcPts val="3456"/>
                </a:lnSpc>
                <a:spcBef>
                  <a:spcPct val="0"/>
                </a:spcBef>
              </a:pPr>
              <a:r>
                <a:rPr lang="en-US" sz="2468" b="1">
                  <a:solidFill>
                    <a:srgbClr val="000000"/>
                  </a:solidFill>
                  <a:latin typeface="Montserrat Bold"/>
                  <a:ea typeface="Montserrat Bold"/>
                  <a:cs typeface="Montserrat Bold"/>
                  <a:sym typeface="Montserrat Bold"/>
                </a:rPr>
                <a:t>The new system streamlined processes, reduced manual workloads, and enhanced communication across departments.</a:t>
              </a:r>
            </a:p>
          </p:txBody>
        </p:sp>
      </p:grpSp>
      <p:grpSp>
        <p:nvGrpSpPr>
          <p:cNvPr id="9" name="Group 9"/>
          <p:cNvGrpSpPr/>
          <p:nvPr/>
        </p:nvGrpSpPr>
        <p:grpSpPr>
          <a:xfrm>
            <a:off x="1028700" y="7961948"/>
            <a:ext cx="16898824" cy="1320242"/>
            <a:chOff x="0" y="0"/>
            <a:chExt cx="3910823" cy="305538"/>
          </a:xfrm>
        </p:grpSpPr>
        <p:sp>
          <p:nvSpPr>
            <p:cNvPr id="10" name="Freeform 10"/>
            <p:cNvSpPr/>
            <p:nvPr/>
          </p:nvSpPr>
          <p:spPr>
            <a:xfrm>
              <a:off x="0" y="0"/>
              <a:ext cx="3910823" cy="305538"/>
            </a:xfrm>
            <a:custGeom>
              <a:avLst/>
              <a:gdLst/>
              <a:ahLst/>
              <a:cxnLst/>
              <a:rect l="l" t="t" r="r" b="b"/>
              <a:pathLst>
                <a:path w="3910823" h="305538">
                  <a:moveTo>
                    <a:pt x="14660" y="0"/>
                  </a:moveTo>
                  <a:lnTo>
                    <a:pt x="3896162" y="0"/>
                  </a:lnTo>
                  <a:cubicBezTo>
                    <a:pt x="3900050" y="0"/>
                    <a:pt x="3903779" y="1545"/>
                    <a:pt x="3906529" y="4294"/>
                  </a:cubicBezTo>
                  <a:cubicBezTo>
                    <a:pt x="3909278" y="7043"/>
                    <a:pt x="3910823" y="10772"/>
                    <a:pt x="3910823" y="14660"/>
                  </a:cubicBezTo>
                  <a:lnTo>
                    <a:pt x="3910823" y="290878"/>
                  </a:lnTo>
                  <a:cubicBezTo>
                    <a:pt x="3910823" y="294766"/>
                    <a:pt x="3909278" y="298495"/>
                    <a:pt x="3906529" y="301244"/>
                  </a:cubicBezTo>
                  <a:cubicBezTo>
                    <a:pt x="3903779" y="303993"/>
                    <a:pt x="3900050" y="305538"/>
                    <a:pt x="3896162" y="305538"/>
                  </a:cubicBezTo>
                  <a:lnTo>
                    <a:pt x="14660" y="305538"/>
                  </a:lnTo>
                  <a:cubicBezTo>
                    <a:pt x="10772" y="305538"/>
                    <a:pt x="7043" y="303993"/>
                    <a:pt x="4294" y="301244"/>
                  </a:cubicBezTo>
                  <a:cubicBezTo>
                    <a:pt x="1545" y="298495"/>
                    <a:pt x="0" y="294766"/>
                    <a:pt x="0" y="290878"/>
                  </a:cubicBezTo>
                  <a:lnTo>
                    <a:pt x="0" y="14660"/>
                  </a:lnTo>
                  <a:cubicBezTo>
                    <a:pt x="0" y="10772"/>
                    <a:pt x="1545" y="7043"/>
                    <a:pt x="4294" y="4294"/>
                  </a:cubicBezTo>
                  <a:cubicBezTo>
                    <a:pt x="7043" y="1545"/>
                    <a:pt x="10772" y="0"/>
                    <a:pt x="14660" y="0"/>
                  </a:cubicBezTo>
                  <a:close/>
                </a:path>
              </a:pathLst>
            </a:custGeom>
            <a:solidFill>
              <a:srgbClr val="FFFFFF"/>
            </a:solidFill>
            <a:ln w="104775" cap="rnd">
              <a:solidFill>
                <a:srgbClr val="023B88"/>
              </a:solidFill>
              <a:prstDash val="solid"/>
              <a:round/>
            </a:ln>
          </p:spPr>
          <p:txBody>
            <a:bodyPr/>
            <a:lstStyle/>
            <a:p>
              <a:endParaRPr lang="en-US"/>
            </a:p>
          </p:txBody>
        </p:sp>
        <p:sp>
          <p:nvSpPr>
            <p:cNvPr id="11" name="TextBox 11"/>
            <p:cNvSpPr txBox="1"/>
            <p:nvPr/>
          </p:nvSpPr>
          <p:spPr>
            <a:xfrm>
              <a:off x="0" y="-47625"/>
              <a:ext cx="3910823" cy="353163"/>
            </a:xfrm>
            <a:prstGeom prst="rect">
              <a:avLst/>
            </a:prstGeom>
          </p:spPr>
          <p:txBody>
            <a:bodyPr lIns="50800" tIns="50800" rIns="50800" bIns="50800" rtlCol="0" anchor="ctr"/>
            <a:lstStyle/>
            <a:p>
              <a:pPr marL="0" lvl="0" indent="0" algn="ctr">
                <a:lnSpc>
                  <a:spcPts val="3456"/>
                </a:lnSpc>
                <a:spcBef>
                  <a:spcPct val="0"/>
                </a:spcBef>
              </a:pPr>
              <a:r>
                <a:rPr lang="en-US" sz="2468" b="1">
                  <a:solidFill>
                    <a:srgbClr val="000000"/>
                  </a:solidFill>
                  <a:latin typeface="Montserrat Bold"/>
                  <a:ea typeface="Montserrat Bold"/>
                  <a:cs typeface="Montserrat Bold"/>
                  <a:sym typeface="Montserrat Bold"/>
                </a:rPr>
                <a:t>Odoo’s flexibility and modularity proved effective for addressing real-world construction industry needs.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285</Words>
  <Application>Microsoft Office PowerPoint</Application>
  <PresentationFormat>Custom</PresentationFormat>
  <Paragraphs>45</Paragraphs>
  <Slides>9</Slides>
  <Notes>0</Notes>
  <HiddenSlides>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Arial</vt:lpstr>
      <vt:lpstr>Tawasul</vt:lpstr>
      <vt:lpstr>Montserrat</vt:lpstr>
      <vt:lpstr>Montserrat Bold</vt:lpstr>
      <vt:lpstr>NewsGotT</vt:lpstr>
      <vt:lpstr>Calibri</vt:lpstr>
      <vt:lpstr>Montserrat Classic Bold</vt:lpstr>
      <vt:lpstr>Montserrat Classic</vt:lpstr>
      <vt:lpstr>Open Sauce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White and Green Simple  Professional Business Project Presentation</dc:title>
  <cp:lastModifiedBy>Halima Aldoseri</cp:lastModifiedBy>
  <cp:revision>1</cp:revision>
  <dcterms:created xsi:type="dcterms:W3CDTF">2006-08-16T00:00:00Z</dcterms:created>
  <dcterms:modified xsi:type="dcterms:W3CDTF">2025-05-04T20:29:02Z</dcterms:modified>
  <dc:identifier>DAGmgFuWnmA</dc:identifier>
</cp:coreProperties>
</file>